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Docker를 설치하고, 첫 컨테이너를 실행해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Docker는 프로그램을 컨테이너라는 상자에 담아, 어디서든 똑같이 실행하게 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Windows에서는 먼저 WSL을 설치합니다. PowerShell에서 한 줄이면 됩니다. [표준 사용법: 제작 환경(Linux)에서 Windows PowerShell 명령을 실행하지 못함. 관리자 권한 PowerShell 에서 실행, 설치 후 재부팅 필요]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그다음 Docker Desktop을 설치합니다. 설치 옵션에서 WSL 2 사용을 선택합니다. [일러스트: 제작 환경(Linux)에서 Windows 설치 화면을 캡처하지 못함. 실제 화면으로 교체 권장]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설정에서 WSL 연동을 켜면, Ubuntu 터미널에서도 docker를 쓸 수 있습니다. [일러스트: 제작 환경(Linux)에서 Windows 설치 화면을 캡처하지 못함. 실제 화면으로 교체 권장]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Ubuntu 터미널에서 docker --version으로 버전을 확인합니다. (build 해시는 화면에서 생략, 버전은 설치 시점/PC마다 다름)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Compose도 함께 설치되어 있습니다. (버전은 설치 시점/PC마다 다름)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docker run hello-world로 첫 컨테이너를 실행합니다. 처음에는 이미지를 먼저 내려받아서 시간이 조금 걸립니다. 환영 메시지가 나오면 성공입니다. (긴 출력 중 핵심 줄만 표시, 내려받기 로그는 일부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Docker는 이미지를 내려받아 컨테이너를 만들고, 그 결과를 화면에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버전 확인과 hello-world 실행, 이 두 가지로 설치를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이미지와 컨테이너를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Docker를 설치하고, 첫 컨테이너를 실행해 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 설치와 첫 실행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Docker는 프로그램을 컨테이너라는 상자에 담아, 어디서든 똑같이 실행하게 해 줍니다.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가상머신</a:t>
            </a:r>
            <a:endParaRPr lang="en-US" sz="1300" dirty="0"/>
          </a:p>
        </p:txBody>
      </p:sp>
      <p:sp>
        <p:nvSpPr>
          <p:cNvPr id="6" name="VM1"/>
          <p:cNvSpPr/>
          <p:nvPr/>
        </p:nvSpPr>
        <p:spPr>
          <a:xfrm>
            <a:off x="274320" y="27432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3B2F55"/>
          </a:solidFill>
          <a:ln w="15240">
            <a:solidFill>
              <a:srgbClr val="FF79C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+ 게스트 OS</a:t>
            </a:r>
            <a:endParaRPr lang="en-US" sz="1100" dirty="0"/>
          </a:p>
        </p:txBody>
      </p:sp>
      <p:sp>
        <p:nvSpPr>
          <p:cNvPr id="8" name="VM2"/>
          <p:cNvSpPr/>
          <p:nvPr/>
        </p:nvSpPr>
        <p:spPr>
          <a:xfrm>
            <a:off x="274320" y="3310128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3B2F55"/>
          </a:solidFill>
          <a:ln w="15240">
            <a:solidFill>
              <a:srgbClr val="FF7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+ 게스트 OS</a:t>
            </a:r>
            <a:endParaRPr lang="en-US" sz="1100" dirty="0"/>
          </a:p>
        </p:txBody>
      </p:sp>
      <p:sp>
        <p:nvSpPr>
          <p:cNvPr id="10" name="VM3"/>
          <p:cNvSpPr/>
          <p:nvPr/>
        </p:nvSpPr>
        <p:spPr>
          <a:xfrm>
            <a:off x="274320" y="387705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3141C"/>
          </a:solidFill>
          <a:ln w="15240">
            <a:solidFill>
              <a:srgbClr val="393B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" y="3877056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하이퍼바이저</a:t>
            </a:r>
            <a:endParaRPr lang="en-US" sz="1100" dirty="0"/>
          </a:p>
        </p:txBody>
      </p:sp>
      <p:sp>
        <p:nvSpPr>
          <p:cNvPr id="12" name="VM4"/>
          <p:cNvSpPr/>
          <p:nvPr/>
        </p:nvSpPr>
        <p:spPr>
          <a:xfrm>
            <a:off x="274320" y="4443984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3141C"/>
          </a:solidFill>
          <a:ln w="15240">
            <a:solidFill>
              <a:srgbClr val="393B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" y="4443984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 (OS)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300" dirty="0"/>
          </a:p>
        </p:txBody>
      </p:sp>
      <p:sp>
        <p:nvSpPr>
          <p:cNvPr id="15" name="컨테이너1"/>
          <p:cNvSpPr/>
          <p:nvPr/>
        </p:nvSpPr>
        <p:spPr>
          <a:xfrm>
            <a:off x="2743200" y="274320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24473A"/>
          </a:solidFill>
          <a:ln w="15240">
            <a:solidFill>
              <a:srgbClr val="50FA7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4320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</a:t>
            </a:r>
            <a:endParaRPr lang="en-US" sz="1100" dirty="0"/>
          </a:p>
        </p:txBody>
      </p:sp>
      <p:sp>
        <p:nvSpPr>
          <p:cNvPr id="17" name="컨테이너2"/>
          <p:cNvSpPr/>
          <p:nvPr/>
        </p:nvSpPr>
        <p:spPr>
          <a:xfrm>
            <a:off x="2743200" y="3310128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24473A"/>
          </a:solidFill>
          <a:ln w="15240">
            <a:solidFill>
              <a:srgbClr val="50FA7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43200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</a:t>
            </a:r>
            <a:endParaRPr lang="en-US" sz="1100" dirty="0"/>
          </a:p>
        </p:txBody>
      </p:sp>
      <p:sp>
        <p:nvSpPr>
          <p:cNvPr id="19" name="컨테이너3"/>
          <p:cNvSpPr/>
          <p:nvPr/>
        </p:nvSpPr>
        <p:spPr>
          <a:xfrm>
            <a:off x="2743200" y="387705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3141C"/>
          </a:solidFill>
          <a:ln w="15240">
            <a:solidFill>
              <a:srgbClr val="393B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43200" y="3877056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</a:t>
            </a:r>
            <a:endParaRPr lang="en-US" sz="1100" dirty="0"/>
          </a:p>
        </p:txBody>
      </p:sp>
      <p:sp>
        <p:nvSpPr>
          <p:cNvPr id="21" name="컨테이너4"/>
          <p:cNvSpPr/>
          <p:nvPr/>
        </p:nvSpPr>
        <p:spPr>
          <a:xfrm>
            <a:off x="2743200" y="4443984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3141C"/>
          </a:solidFill>
          <a:ln w="15240">
            <a:solidFill>
              <a:srgbClr val="393B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43200" y="4443984"/>
            <a:ext cx="2103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 (OS)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74320" y="5074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컨테이너는 OS 를 공유해서 가볍다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Windows에서는 먼저 WSL을 설치합니다. PowerShell에서 한 줄이면 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 wsl --install</a:t>
            </a:r>
            <a:endParaRPr lang="en-US" sz="12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PowerShell (관리자): WSL 설치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Docker Desktop을 설치합니다. 설치 옵션에서 WSL 2 사용을 선택합니다.</a:t>
            </a:r>
            <a:endParaRPr lang="en-US" sz="1500" dirty="0"/>
          </a:p>
        </p:txBody>
      </p:sp>
      <p:sp>
        <p:nvSpPr>
          <p:cNvPr id="5" name="설치창"/>
          <p:cNvSpPr/>
          <p:nvPr/>
        </p:nvSpPr>
        <p:spPr>
          <a:xfrm>
            <a:off x="320040" y="2286000"/>
            <a:ext cx="4480560" cy="3291840"/>
          </a:xfrm>
          <a:prstGeom prst="rect">
            <a:avLst/>
          </a:prstGeom>
          <a:solidFill>
            <a:srgbClr val="F3F3F3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6" name="설치창제목"/>
          <p:cNvSpPr/>
          <p:nvPr/>
        </p:nvSpPr>
        <p:spPr>
          <a:xfrm>
            <a:off x="320040" y="2286000"/>
            <a:ext cx="4480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Installing Docker Desktop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43200"/>
            <a:ext cx="4206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9" name="WSL2강조"/>
          <p:cNvSpPr/>
          <p:nvPr/>
        </p:nvSpPr>
        <p:spPr>
          <a:xfrm>
            <a:off x="411480" y="3172968"/>
            <a:ext cx="4297680" cy="548640"/>
          </a:xfrm>
          <a:prstGeom prst="roundRect">
            <a:avLst>
              <a:gd name="adj" fmla="val 8333"/>
            </a:avLst>
          </a:prstGeom>
          <a:solidFill>
            <a:srgbClr val="F3F3F3">
              <a:alpha val="0"/>
            </a:srgbClr>
          </a:solidFill>
          <a:ln w="25400">
            <a:solidFill>
              <a:srgbClr val="FF79C6"/>
            </a:solidFill>
            <a:prstDash val="solid"/>
          </a:ln>
        </p:spPr>
      </p:sp>
      <p:sp>
        <p:nvSpPr>
          <p:cNvPr id="10" name="체크박스1"/>
          <p:cNvSpPr/>
          <p:nvPr/>
        </p:nvSpPr>
        <p:spPr>
          <a:xfrm>
            <a:off x="548640" y="331012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826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227832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WSL 2 instead of Hyper-V (recommended)</a:t>
            </a:r>
            <a:endParaRPr lang="en-US" sz="1000" dirty="0"/>
          </a:p>
        </p:txBody>
      </p:sp>
      <p:sp>
        <p:nvSpPr>
          <p:cNvPr id="13" name="체크박스2"/>
          <p:cNvSpPr/>
          <p:nvPr/>
        </p:nvSpPr>
        <p:spPr>
          <a:xfrm>
            <a:off x="548640" y="395020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3867912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Windows Containers to be used with this installation</a:t>
            </a:r>
            <a:endParaRPr lang="en-US" sz="1000" dirty="0"/>
          </a:p>
        </p:txBody>
      </p:sp>
      <p:sp>
        <p:nvSpPr>
          <p:cNvPr id="15" name="체크박스3"/>
          <p:cNvSpPr/>
          <p:nvPr/>
        </p:nvSpPr>
        <p:spPr>
          <a:xfrm>
            <a:off x="548640" y="459028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562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507992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shortcut to desktop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설정에서 WSL 연동을 켜면, Ubuntu 터미널에서도 docker를 쓸 수 있습니다.</a:t>
            </a:r>
            <a:endParaRPr lang="en-US" sz="1500" dirty="0"/>
          </a:p>
        </p:txBody>
      </p:sp>
      <p:sp>
        <p:nvSpPr>
          <p:cNvPr id="5" name="설정창"/>
          <p:cNvSpPr/>
          <p:nvPr/>
        </p:nvSpPr>
        <p:spPr>
          <a:xfrm>
            <a:off x="320040" y="2286000"/>
            <a:ext cx="4480560" cy="3291840"/>
          </a:xfrm>
          <a:prstGeom prst="rect">
            <a:avLst/>
          </a:prstGeom>
          <a:solidFill>
            <a:srgbClr val="1E1E1E"/>
          </a:solidFill>
          <a:ln w="9525">
            <a:solidFill>
              <a:srgbClr val="454545"/>
            </a:solidFill>
            <a:prstDash val="solid"/>
          </a:ln>
        </p:spPr>
      </p:sp>
      <p:sp>
        <p:nvSpPr>
          <p:cNvPr id="6" name="설정메뉴"/>
          <p:cNvSpPr/>
          <p:nvPr/>
        </p:nvSpPr>
        <p:spPr>
          <a:xfrm>
            <a:off x="320040" y="2286000"/>
            <a:ext cx="1371600" cy="3291840"/>
          </a:xfrm>
          <a:prstGeom prst="rect">
            <a:avLst/>
          </a:prstGeom>
          <a:solidFill>
            <a:srgbClr val="252526"/>
          </a:solidFill>
          <a:ln w="9525">
            <a:solidFill>
              <a:srgbClr val="454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WSL integration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Engine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WSL integration</a:t>
            </a:r>
            <a:endParaRPr lang="en-US" sz="1300" dirty="0"/>
          </a:p>
        </p:txBody>
      </p:sp>
      <p:sp>
        <p:nvSpPr>
          <p:cNvPr id="12" name="토글1"/>
          <p:cNvSpPr/>
          <p:nvPr/>
        </p:nvSpPr>
        <p:spPr>
          <a:xfrm>
            <a:off x="1874520" y="299923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 w="6350">
            <a:solidFill>
              <a:srgbClr val="2F9E44"/>
            </a:solidFill>
            <a:prstDash val="solid"/>
          </a:ln>
        </p:spPr>
      </p:sp>
      <p:sp>
        <p:nvSpPr>
          <p:cNvPr id="13" name="토글점1"/>
          <p:cNvSpPr/>
          <p:nvPr/>
        </p:nvSpPr>
        <p:spPr>
          <a:xfrm>
            <a:off x="2112264" y="3017520"/>
            <a:ext cx="219456" cy="219456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23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integration with my default WSL distro</a:t>
            </a:r>
            <a:endParaRPr lang="en-US" sz="950" dirty="0"/>
          </a:p>
        </p:txBody>
      </p:sp>
      <p:sp>
        <p:nvSpPr>
          <p:cNvPr id="15" name="Ubuntu강조"/>
          <p:cNvSpPr/>
          <p:nvPr/>
        </p:nvSpPr>
        <p:spPr>
          <a:xfrm>
            <a:off x="1783080" y="3749040"/>
            <a:ext cx="2926080" cy="548640"/>
          </a:xfrm>
          <a:prstGeom prst="roundRect">
            <a:avLst>
              <a:gd name="adj" fmla="val 8333"/>
            </a:avLst>
          </a:prstGeom>
          <a:solidFill>
            <a:srgbClr val="1E1E1E">
              <a:alpha val="0"/>
            </a:srgbClr>
          </a:solidFill>
          <a:ln w="25400">
            <a:solidFill>
              <a:srgbClr val="FF79C6"/>
            </a:solidFill>
            <a:prstDash val="solid"/>
          </a:ln>
        </p:spPr>
      </p:sp>
      <p:sp>
        <p:nvSpPr>
          <p:cNvPr id="16" name="토글2"/>
          <p:cNvSpPr/>
          <p:nvPr/>
        </p:nvSpPr>
        <p:spPr>
          <a:xfrm>
            <a:off x="1874520" y="386791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 w="6350">
            <a:solidFill>
              <a:srgbClr val="2F9E44"/>
            </a:solidFill>
            <a:prstDash val="solid"/>
          </a:ln>
        </p:spPr>
      </p:sp>
      <p:sp>
        <p:nvSpPr>
          <p:cNvPr id="17" name="토글점2"/>
          <p:cNvSpPr/>
          <p:nvPr/>
        </p:nvSpPr>
        <p:spPr>
          <a:xfrm>
            <a:off x="2112264" y="3886200"/>
            <a:ext cx="219456" cy="219456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2316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950" dirty="0"/>
          </a:p>
        </p:txBody>
      </p:sp>
      <p:sp>
        <p:nvSpPr>
          <p:cNvPr id="19" name="적용버튼"/>
          <p:cNvSpPr/>
          <p:nvPr/>
        </p:nvSpPr>
        <p:spPr>
          <a:xfrm>
            <a:off x="3200400" y="4983480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0E639C"/>
          </a:solidFill>
          <a:ln w="6350">
            <a:solidFill>
              <a:srgbClr val="0E639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00400" y="4983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&amp; restart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터미널에서 docker --version으로 버전을 확인합니다.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--version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version 29.8.2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버전 확인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Compose도 함께 설치되어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version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version v5.6.0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버전 확인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docker run hello-world로 첫 컨테이너를 실행합니다. 처음에는 이미지를 먼저 내려받아서 시간이 조금 걸립니다. 환영 메시지가 나오면 성공입니다.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hello-world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Unable to find image 'hello-world:latest' locally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latest: Pulling from library/hello-world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Downloaded newer image for hello-world:lates…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from Docker!</a:t>
            </a:r>
            <a:endParaRPr lang="en-US" sz="1000" dirty="0"/>
          </a:p>
        </p:txBody>
      </p:sp>
      <p:sp>
        <p:nvSpPr>
          <p:cNvPr id="13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message shows that your installation appears</a:t>
            </a:r>
            <a:endParaRPr lang="en-US" sz="10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be working correctly.</a:t>
            </a:r>
            <a:endParaRPr lang="en-US" sz="10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컨테이너 실행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Docker는 이미지를 내려받아 컨테이너를 만들고, 그 결과를 화면에 보여 줍니다.</a:t>
            </a:r>
            <a:endParaRPr lang="en-US" sz="1500" dirty="0"/>
          </a:p>
        </p:txBody>
      </p:sp>
      <p:sp>
        <p:nvSpPr>
          <p:cNvPr id="5" name="단계1"/>
          <p:cNvSpPr/>
          <p:nvPr/>
        </p:nvSpPr>
        <p:spPr>
          <a:xfrm>
            <a:off x="411480" y="237744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번호1"/>
          <p:cNvSpPr/>
          <p:nvPr/>
        </p:nvSpPr>
        <p:spPr>
          <a:xfrm>
            <a:off x="548640" y="2532888"/>
            <a:ext cx="365760" cy="365760"/>
          </a:xfrm>
          <a:prstGeom prst="ellipse">
            <a:avLst/>
          </a:prstGeom>
          <a:solidFill>
            <a:srgbClr val="3B2F55"/>
          </a:solidFill>
          <a:ln w="15240">
            <a:solidFill>
              <a:srgbClr val="FF79C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3774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명령이 Docker 에 요청</a:t>
            </a:r>
            <a:endParaRPr lang="en-US" sz="1300" dirty="0"/>
          </a:p>
        </p:txBody>
      </p:sp>
      <p:sp>
        <p:nvSpPr>
          <p:cNvPr id="9" name="단계2"/>
          <p:cNvSpPr/>
          <p:nvPr/>
        </p:nvSpPr>
        <p:spPr>
          <a:xfrm>
            <a:off x="411480" y="320040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0" name="번호2"/>
          <p:cNvSpPr/>
          <p:nvPr/>
        </p:nvSpPr>
        <p:spPr>
          <a:xfrm>
            <a:off x="548640" y="3355848"/>
            <a:ext cx="365760" cy="365760"/>
          </a:xfrm>
          <a:prstGeom prst="ellipse">
            <a:avLst/>
          </a:prstGeom>
          <a:solidFill>
            <a:srgbClr val="3B2F55"/>
          </a:solidFill>
          <a:ln w="15240">
            <a:solidFill>
              <a:srgbClr val="FF79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2004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이미지를 Docker Hub 에서 내려받음</a:t>
            </a:r>
            <a:endParaRPr lang="en-US" sz="1300" dirty="0"/>
          </a:p>
        </p:txBody>
      </p:sp>
      <p:sp>
        <p:nvSpPr>
          <p:cNvPr id="13" name="단계3"/>
          <p:cNvSpPr/>
          <p:nvPr/>
        </p:nvSpPr>
        <p:spPr>
          <a:xfrm>
            <a:off x="411480" y="402336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4" name="번호3"/>
          <p:cNvSpPr/>
          <p:nvPr/>
        </p:nvSpPr>
        <p:spPr>
          <a:xfrm>
            <a:off x="548640" y="4178808"/>
            <a:ext cx="365760" cy="365760"/>
          </a:xfrm>
          <a:prstGeom prst="ellipse">
            <a:avLst/>
          </a:prstGeom>
          <a:solidFill>
            <a:srgbClr val="3B2F55"/>
          </a:solidFill>
          <a:ln w="15240">
            <a:solidFill>
              <a:srgbClr val="FF7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0233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이미지로 컨테이너를 만들어 실행</a:t>
            </a:r>
            <a:endParaRPr lang="en-US" sz="1300" dirty="0"/>
          </a:p>
        </p:txBody>
      </p:sp>
      <p:sp>
        <p:nvSpPr>
          <p:cNvPr id="17" name="단계4"/>
          <p:cNvSpPr/>
          <p:nvPr/>
        </p:nvSpPr>
        <p:spPr>
          <a:xfrm>
            <a:off x="411480" y="484632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8" name="번호4"/>
          <p:cNvSpPr/>
          <p:nvPr/>
        </p:nvSpPr>
        <p:spPr>
          <a:xfrm>
            <a:off x="548640" y="5001768"/>
            <a:ext cx="365760" cy="365760"/>
          </a:xfrm>
          <a:prstGeom prst="ellipse">
            <a:avLst/>
          </a:prstGeom>
          <a:solidFill>
            <a:srgbClr val="3B2F55"/>
          </a:solidFill>
          <a:ln w="15240">
            <a:solidFill>
              <a:srgbClr val="FF7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48463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터미널에 출력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확인과 hello-world 실행, 이 두 가지로 설치를 확인합니다.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--version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468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확인</a:t>
            </a:r>
            <a:endParaRPr lang="en-US" sz="12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version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3429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Compose 확인</a:t>
            </a:r>
            <a:endParaRPr lang="en-US" sz="12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hello-world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43891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컨테이너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1회차 · Docker 설치와 첫 실행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이미지와 컨테이너를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이미지와 컨테이너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1회차 설치와 첫 실행</dc:title>
  <dc:subject>PptxGenJS Presentation</dc:subject>
  <dc:creator>PptxGenJS</dc:creator>
  <cp:lastModifiedBy>PptxGenJS</cp:lastModifiedBy>
  <cp:revision>1</cp:revision>
  <dcterms:created xsi:type="dcterms:W3CDTF">2026-10-08T13:52:10Z</dcterms:created>
  <dcterms:modified xsi:type="dcterms:W3CDTF">2026-10-08T13:52:10Z</dcterms:modified>
</cp:coreProperties>
</file>