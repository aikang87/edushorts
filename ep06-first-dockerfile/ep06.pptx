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5143500" cy="9144000"/>
  <p:notesSz cx="9144000" cy="51435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이번 시간에는 나만의 이미지를 만드는 Dockerfile을 알아봅니다.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Dockerfile은 이미지를 만드는 순서를 적은 설명서입니다. 이 파일로 build하면 이미지가 만들어집니다.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먼저 폴더를 만들고, 그 안에 Dockerfile이라는 이름의 파일을 만듭니다. (heredoc 은 입력한 내용을 파일로 저장하는 쉘 문법)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첫 줄 FROM은 어떤 이미지에서 시작할지 정합니다. 여기서는 alpine을 사용합니다.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RUN은 이미지를 만드는 동안 실행할 명령입니다. 여기서는 파일 하나를 만듭니다.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CMD는 컨테이너가 시작될 때 실행할 명령입니다. 만들어 둔 파일을 출력합니다.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docker build로 이미지를 만듭니다. -t 옵션은 이미지 이름이고, 마지막 점은 현재 폴더입니다. (긴 빌드 로그 중 핵심 줄만 표시)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docker images로 보면 방금 만든 hello 이미지가 보입니다. (일부 열 생략)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docker run으로 실행하면 CMD에 적어 둔 명령이 실행됩니다.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FROM, RUN, CMD로 이미지를 설계하고, docker build로 만듭니다.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다음 시간에는 내 파일을 이미지에 넣는 방법을 알아봅니다.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1F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타이틀"/>
          <p:cNvSpPr txBox="1"/>
          <p:nvPr/>
        </p:nvSpPr>
        <p:spPr>
          <a:xfrm>
            <a:off x="209398" y="1158545"/>
            <a:ext cx="4663440" cy="8311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dirty="0">
                <a:solidFill>
                  <a:srgbClr val="F5F6FA"/>
                </a:solidFill>
                <a:latin typeface="HY견고딕" pitchFamily="34" charset="0"/>
                <a:ea typeface="HY견고딕" pitchFamily="34" charset="-122"/>
                <a:cs typeface="HY견고딕" pitchFamily="34" charset="-120"/>
              </a:rPr>
              <a:t>VSCODE와 Docker로 만드는</a:t>
            </a:r>
            <a:endParaRPr lang="en-US" sz="2400" dirty="0"/>
          </a:p>
          <a:p>
            <a:pPr algn="l" indent="0" marL="0">
              <a:buNone/>
            </a:pPr>
            <a:r>
              <a:rPr lang="en-US" sz="2400" dirty="0">
                <a:solidFill>
                  <a:srgbClr val="F5F6FA"/>
                </a:solidFill>
                <a:latin typeface="HY견고딕" pitchFamily="34" charset="0"/>
                <a:ea typeface="HY견고딕" pitchFamily="34" charset="-122"/>
                <a:cs typeface="HY견고딕" pitchFamily="34" charset="-120"/>
              </a:rPr>
              <a:t>생성형AI</a:t>
            </a:r>
            <a:endParaRPr lang="en-US" sz="2400" dirty="0"/>
          </a:p>
        </p:txBody>
      </p:sp>
      <p:sp>
        <p:nvSpPr>
          <p:cNvPr id="3" name="자막영역"/>
          <p:cNvSpPr txBox="1"/>
          <p:nvPr/>
        </p:nvSpPr>
        <p:spPr>
          <a:xfrm>
            <a:off x="260604" y="6012180"/>
            <a:ext cx="4661611" cy="125272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5F6F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이번 시간에는 나만의 이미지를 만드는 Dockerfile을 알아봅니다.</a:t>
            </a:r>
            <a:endParaRPr lang="en-US" sz="1500" dirty="0"/>
          </a:p>
        </p:txBody>
      </p:sp>
      <p:sp>
        <p:nvSpPr>
          <p:cNvPr id="5" name="화면영역"/>
          <p:cNvSpPr/>
          <p:nvPr/>
        </p:nvSpPr>
        <p:spPr>
          <a:xfrm>
            <a:off x="260604" y="2202790"/>
            <a:ext cx="4661611" cy="3556102"/>
          </a:xfrm>
          <a:prstGeom prst="roundRect">
            <a:avLst>
              <a:gd name="adj" fmla="val 5143"/>
            </a:avLst>
          </a:prstGeom>
          <a:solidFill>
            <a:srgbClr val="3B2F55"/>
          </a:solidFill>
          <a:ln w="19050">
            <a:solidFill>
              <a:srgbClr val="FF79C6"/>
            </a:solidFill>
            <a:prstDash val="solid"/>
          </a:ln>
        </p:spPr>
      </p:sp>
      <p:sp>
        <p:nvSpPr>
          <p:cNvPr id="6" name="회차주제"/>
          <p:cNvSpPr txBox="1"/>
          <p:nvPr/>
        </p:nvSpPr>
        <p:spPr>
          <a:xfrm>
            <a:off x="260604" y="2202790"/>
            <a:ext cx="4661611" cy="355610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F5F6FA"/>
                </a:solidFill>
                <a:latin typeface="HY견고딕" pitchFamily="34" charset="0"/>
                <a:ea typeface="HY견고딕" pitchFamily="34" charset="-122"/>
                <a:cs typeface="HY견고딕" pitchFamily="34" charset="-120"/>
              </a:rPr>
              <a:t>6회차</a:t>
            </a:r>
            <a:endParaRPr lang="en-US" sz="3200" dirty="0"/>
          </a:p>
          <a:p>
            <a:pPr algn="ctr" indent="0" marL="0">
              <a:buNone/>
            </a:pPr>
            <a:r>
              <a:rPr lang="en-US" sz="3200" dirty="0">
                <a:solidFill>
                  <a:srgbClr val="F5F6FA"/>
                </a:solidFill>
                <a:latin typeface="HY견고딕" pitchFamily="34" charset="0"/>
                <a:ea typeface="HY견고딕" pitchFamily="34" charset="-122"/>
                <a:cs typeface="HY견고딕" pitchFamily="34" charset="-120"/>
              </a:rPr>
              <a:t>내 첫 Dockerfile</a:t>
            </a:r>
            <a:endParaRPr lang="en-US" sz="3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E1F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타이틀"/>
          <p:cNvSpPr txBox="1"/>
          <p:nvPr/>
        </p:nvSpPr>
        <p:spPr>
          <a:xfrm>
            <a:off x="209398" y="1158545"/>
            <a:ext cx="4663440" cy="8311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dirty="0">
                <a:solidFill>
                  <a:srgbClr val="F5F6FA"/>
                </a:solidFill>
                <a:latin typeface="HY견고딕" pitchFamily="34" charset="0"/>
                <a:ea typeface="HY견고딕" pitchFamily="34" charset="-122"/>
                <a:cs typeface="HY견고딕" pitchFamily="34" charset="-120"/>
              </a:rPr>
              <a:t>6회차 · 내 첫 Dockerfile</a:t>
            </a:r>
            <a:endParaRPr lang="en-US" sz="2400" dirty="0"/>
          </a:p>
        </p:txBody>
      </p:sp>
      <p:sp>
        <p:nvSpPr>
          <p:cNvPr id="3" name="자막영역"/>
          <p:cNvSpPr txBox="1"/>
          <p:nvPr/>
        </p:nvSpPr>
        <p:spPr>
          <a:xfrm>
            <a:off x="260604" y="6012180"/>
            <a:ext cx="4661611" cy="125272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5F6F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Dockerfile은 이미지를 만드는 순서를 적은 설명서입니다. 이 파일로 build하면 이미지가 만들어집니다.</a:t>
            </a:r>
            <a:endParaRPr lang="en-US" sz="1500" dirty="0"/>
          </a:p>
        </p:txBody>
      </p:sp>
      <p:sp>
        <p:nvSpPr>
          <p:cNvPr id="5" name="도커파일"/>
          <p:cNvSpPr/>
          <p:nvPr/>
        </p:nvSpPr>
        <p:spPr>
          <a:xfrm>
            <a:off x="822960" y="2331720"/>
            <a:ext cx="3474720" cy="731520"/>
          </a:xfrm>
          <a:prstGeom prst="roundRect">
            <a:avLst>
              <a:gd name="adj" fmla="val 15000"/>
            </a:avLst>
          </a:prstGeom>
          <a:solidFill>
            <a:srgbClr val="3B2F55"/>
          </a:solidFill>
          <a:ln w="19050">
            <a:solidFill>
              <a:srgbClr val="FF79C6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822960" y="2331720"/>
            <a:ext cx="3474720" cy="7315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5F6F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Dockerfile</a:t>
            </a:r>
            <a:endParaRPr lang="en-US" sz="18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5F6F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이미지를 만드는 설명서</a:t>
            </a:r>
            <a:endParaRPr lang="en-US" sz="1800" dirty="0"/>
          </a:p>
        </p:txBody>
      </p:sp>
      <p:sp>
        <p:nvSpPr>
          <p:cNvPr id="7" name="Text 4"/>
          <p:cNvSpPr txBox="1"/>
          <p:nvPr/>
        </p:nvSpPr>
        <p:spPr>
          <a:xfrm>
            <a:off x="822960" y="3108960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79C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▼ docker build</a:t>
            </a:r>
            <a:endParaRPr lang="en-US" sz="1300" dirty="0"/>
          </a:p>
        </p:txBody>
      </p:sp>
      <p:sp>
        <p:nvSpPr>
          <p:cNvPr id="8" name="이미지"/>
          <p:cNvSpPr/>
          <p:nvPr/>
        </p:nvSpPr>
        <p:spPr>
          <a:xfrm>
            <a:off x="822960" y="3566160"/>
            <a:ext cx="3474720" cy="731520"/>
          </a:xfrm>
          <a:prstGeom prst="roundRect">
            <a:avLst>
              <a:gd name="adj" fmla="val 15000"/>
            </a:avLst>
          </a:prstGeom>
          <a:solidFill>
            <a:srgbClr val="3B2F55"/>
          </a:solidFill>
          <a:ln w="19050">
            <a:solidFill>
              <a:srgbClr val="FF79C6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822960" y="3566160"/>
            <a:ext cx="3474720" cy="7315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5F6F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이미지</a:t>
            </a:r>
            <a:endParaRPr lang="en-US" sz="1800" dirty="0"/>
          </a:p>
        </p:txBody>
      </p:sp>
      <p:sp>
        <p:nvSpPr>
          <p:cNvPr id="10" name="Text 7"/>
          <p:cNvSpPr txBox="1"/>
          <p:nvPr/>
        </p:nvSpPr>
        <p:spPr>
          <a:xfrm>
            <a:off x="822960" y="4343400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79C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▼ docker run</a:t>
            </a:r>
            <a:endParaRPr lang="en-US" sz="1300" dirty="0"/>
          </a:p>
        </p:txBody>
      </p:sp>
      <p:sp>
        <p:nvSpPr>
          <p:cNvPr id="11" name="컨테이너"/>
          <p:cNvSpPr/>
          <p:nvPr/>
        </p:nvSpPr>
        <p:spPr>
          <a:xfrm>
            <a:off x="822960" y="4800600"/>
            <a:ext cx="3474720" cy="731520"/>
          </a:xfrm>
          <a:prstGeom prst="roundRect">
            <a:avLst>
              <a:gd name="adj" fmla="val 15000"/>
            </a:avLst>
          </a:prstGeom>
          <a:solidFill>
            <a:srgbClr val="24473A"/>
          </a:solidFill>
          <a:ln w="19050">
            <a:solidFill>
              <a:srgbClr val="50FA7B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822960" y="4800600"/>
            <a:ext cx="3474720" cy="7315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5F6F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컨테이너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E1F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타이틀"/>
          <p:cNvSpPr txBox="1"/>
          <p:nvPr/>
        </p:nvSpPr>
        <p:spPr>
          <a:xfrm>
            <a:off x="209398" y="1158545"/>
            <a:ext cx="4663440" cy="8311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dirty="0">
                <a:solidFill>
                  <a:srgbClr val="F5F6FA"/>
                </a:solidFill>
                <a:latin typeface="HY견고딕" pitchFamily="34" charset="0"/>
                <a:ea typeface="HY견고딕" pitchFamily="34" charset="-122"/>
                <a:cs typeface="HY견고딕" pitchFamily="34" charset="-120"/>
              </a:rPr>
              <a:t>6회차 · 내 첫 Dockerfile</a:t>
            </a:r>
            <a:endParaRPr lang="en-US" sz="2400" dirty="0"/>
          </a:p>
        </p:txBody>
      </p:sp>
      <p:sp>
        <p:nvSpPr>
          <p:cNvPr id="3" name="자막영역"/>
          <p:cNvSpPr txBox="1"/>
          <p:nvPr/>
        </p:nvSpPr>
        <p:spPr>
          <a:xfrm>
            <a:off x="260604" y="6012180"/>
            <a:ext cx="4661611" cy="125272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5F6F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먼저 폴더를 만들고, 그 안에 Dockerfile이라는 이름의 파일을 만듭니다.</a:t>
            </a:r>
            <a:endParaRPr lang="en-US" sz="1500" dirty="0"/>
          </a:p>
        </p:txBody>
      </p:sp>
      <p:sp>
        <p:nvSpPr>
          <p:cNvPr id="5" name="터미널탭"/>
          <p:cNvSpPr/>
          <p:nvPr/>
        </p:nvSpPr>
        <p:spPr>
          <a:xfrm>
            <a:off x="395935" y="2404872"/>
            <a:ext cx="1542593" cy="319126"/>
          </a:xfrm>
          <a:prstGeom prst="roundRect">
            <a:avLst>
              <a:gd name="adj" fmla="val 17192"/>
            </a:avLst>
          </a:prstGeom>
          <a:solidFill>
            <a:srgbClr val="13141C"/>
          </a:solidFill>
          <a:ln w="9525">
            <a:solidFill>
              <a:srgbClr val="393B4A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395935" y="2404872"/>
            <a:ext cx="1542593" cy="3191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25" b="1" dirty="0">
                <a:solidFill>
                  <a:srgbClr val="F5F6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terminal</a:t>
            </a:r>
            <a:endParaRPr lang="en-US" sz="1125" dirty="0"/>
          </a:p>
        </p:txBody>
      </p:sp>
      <p:sp>
        <p:nvSpPr>
          <p:cNvPr id="7" name="터미널박스"/>
          <p:cNvSpPr/>
          <p:nvPr/>
        </p:nvSpPr>
        <p:spPr>
          <a:xfrm>
            <a:off x="395935" y="2827325"/>
            <a:ext cx="4526280" cy="2124151"/>
          </a:xfrm>
          <a:prstGeom prst="roundRect">
            <a:avLst>
              <a:gd name="adj" fmla="val 3444"/>
            </a:avLst>
          </a:prstGeom>
          <a:solidFill>
            <a:srgbClr val="13141C"/>
          </a:solidFill>
          <a:ln w="9525">
            <a:solidFill>
              <a:srgbClr val="393B4A"/>
            </a:solidFill>
            <a:prstDash val="solid"/>
          </a:ln>
        </p:spPr>
      </p:sp>
      <p:sp>
        <p:nvSpPr>
          <p:cNvPr id="8" name="터미널줄1"/>
          <p:cNvSpPr txBox="1"/>
          <p:nvPr/>
        </p:nvSpPr>
        <p:spPr>
          <a:xfrm>
            <a:off x="523951" y="2955341"/>
            <a:ext cx="4270248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0FA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user@PC:~$ </a:t>
            </a:r>
            <a:pPr indent="0" marL="0">
              <a:buNone/>
            </a:pPr>
            <a:r>
              <a:rPr lang="en-US" sz="1100" dirty="0">
                <a:solidFill>
                  <a:srgbClr val="F5F6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mkdir ~/hello</a:t>
            </a:r>
            <a:endParaRPr lang="en-US" sz="1100" dirty="0"/>
          </a:p>
        </p:txBody>
      </p:sp>
      <p:sp>
        <p:nvSpPr>
          <p:cNvPr id="9" name="터미널줄2"/>
          <p:cNvSpPr txBox="1"/>
          <p:nvPr/>
        </p:nvSpPr>
        <p:spPr>
          <a:xfrm>
            <a:off x="523951" y="3183941"/>
            <a:ext cx="4270248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0FA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user@PC:~$ </a:t>
            </a:r>
            <a:pPr indent="0" marL="0">
              <a:buNone/>
            </a:pPr>
            <a:r>
              <a:rPr lang="en-US" sz="1100" dirty="0">
                <a:solidFill>
                  <a:srgbClr val="F5F6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cd ~/hello</a:t>
            </a:r>
            <a:endParaRPr lang="en-US" sz="1100" dirty="0"/>
          </a:p>
        </p:txBody>
      </p:sp>
      <p:sp>
        <p:nvSpPr>
          <p:cNvPr id="10" name="터미널줄3"/>
          <p:cNvSpPr txBox="1"/>
          <p:nvPr/>
        </p:nvSpPr>
        <p:spPr>
          <a:xfrm>
            <a:off x="523951" y="3412541"/>
            <a:ext cx="4270248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0FA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user@PC:~/hello$ </a:t>
            </a:r>
            <a:pPr indent="0" marL="0">
              <a:buNone/>
            </a:pPr>
            <a:r>
              <a:rPr lang="en-US" sz="1100" dirty="0">
                <a:solidFill>
                  <a:srgbClr val="F5F6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cat &gt; Dockerfile &lt;&lt;'EOF'</a:t>
            </a:r>
            <a:endParaRPr lang="en-US" sz="1100" dirty="0"/>
          </a:p>
        </p:txBody>
      </p:sp>
      <p:sp>
        <p:nvSpPr>
          <p:cNvPr id="11" name="강조"/>
          <p:cNvSpPr/>
          <p:nvPr/>
        </p:nvSpPr>
        <p:spPr>
          <a:xfrm>
            <a:off x="459943" y="3403397"/>
            <a:ext cx="4398264" cy="246888"/>
          </a:xfrm>
          <a:prstGeom prst="roundRect">
            <a:avLst>
              <a:gd name="adj" fmla="val 18519"/>
            </a:avLst>
          </a:prstGeom>
          <a:solidFill>
            <a:srgbClr val="13141C">
              <a:alpha val="0"/>
            </a:srgbClr>
          </a:solidFill>
          <a:ln w="22225">
            <a:solidFill>
              <a:srgbClr val="FF79C6"/>
            </a:solidFill>
            <a:prstDash val="solid"/>
          </a:ln>
        </p:spPr>
      </p:sp>
      <p:sp>
        <p:nvSpPr>
          <p:cNvPr id="12" name="터미널줄4"/>
          <p:cNvSpPr txBox="1"/>
          <p:nvPr/>
        </p:nvSpPr>
        <p:spPr>
          <a:xfrm>
            <a:off x="523951" y="3641141"/>
            <a:ext cx="4270248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5F6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alpine</a:t>
            </a:r>
            <a:endParaRPr lang="en-US" sz="1100" dirty="0"/>
          </a:p>
        </p:txBody>
      </p:sp>
      <p:sp>
        <p:nvSpPr>
          <p:cNvPr id="13" name="터미널줄5"/>
          <p:cNvSpPr txBox="1"/>
          <p:nvPr/>
        </p:nvSpPr>
        <p:spPr>
          <a:xfrm>
            <a:off x="523951" y="3869741"/>
            <a:ext cx="4270248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5F6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RUN echo "Hello Dockerfile" &gt; /hello.txt</a:t>
            </a:r>
            <a:endParaRPr lang="en-US" sz="1100" dirty="0"/>
          </a:p>
        </p:txBody>
      </p:sp>
      <p:sp>
        <p:nvSpPr>
          <p:cNvPr id="14" name="터미널줄6"/>
          <p:cNvSpPr txBox="1"/>
          <p:nvPr/>
        </p:nvSpPr>
        <p:spPr>
          <a:xfrm>
            <a:off x="523951" y="4098341"/>
            <a:ext cx="4270248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5F6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CMD ["cat", "/hello.txt"]</a:t>
            </a:r>
            <a:endParaRPr lang="en-US" sz="1100" dirty="0"/>
          </a:p>
        </p:txBody>
      </p:sp>
      <p:sp>
        <p:nvSpPr>
          <p:cNvPr id="15" name="터미널줄7"/>
          <p:cNvSpPr txBox="1"/>
          <p:nvPr/>
        </p:nvSpPr>
        <p:spPr>
          <a:xfrm>
            <a:off x="523951" y="4326941"/>
            <a:ext cx="4270248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5F6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EOF</a:t>
            </a:r>
            <a:endParaRPr lang="en-US" sz="1100" dirty="0"/>
          </a:p>
        </p:txBody>
      </p:sp>
      <p:sp>
        <p:nvSpPr>
          <p:cNvPr id="16" name="설명라벨"/>
          <p:cNvSpPr/>
          <p:nvPr/>
        </p:nvSpPr>
        <p:spPr>
          <a:xfrm>
            <a:off x="395935" y="5157216"/>
            <a:ext cx="4526280" cy="384048"/>
          </a:xfrm>
          <a:prstGeom prst="roundRect">
            <a:avLst>
              <a:gd name="adj" fmla="val 14286"/>
            </a:avLst>
          </a:prstGeom>
          <a:solidFill>
            <a:srgbClr val="3B2F55"/>
          </a:solidFill>
          <a:ln w="6350">
            <a:solidFill>
              <a:srgbClr val="3B2F55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395935" y="5157216"/>
            <a:ext cx="4526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5F6F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Dockerfile 만들기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E1F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타이틀"/>
          <p:cNvSpPr txBox="1"/>
          <p:nvPr/>
        </p:nvSpPr>
        <p:spPr>
          <a:xfrm>
            <a:off x="209398" y="1158545"/>
            <a:ext cx="4663440" cy="8311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dirty="0">
                <a:solidFill>
                  <a:srgbClr val="F5F6FA"/>
                </a:solidFill>
                <a:latin typeface="HY견고딕" pitchFamily="34" charset="0"/>
                <a:ea typeface="HY견고딕" pitchFamily="34" charset="-122"/>
                <a:cs typeface="HY견고딕" pitchFamily="34" charset="-120"/>
              </a:rPr>
              <a:t>6회차 · 내 첫 Dockerfile</a:t>
            </a:r>
            <a:endParaRPr lang="en-US" sz="2400" dirty="0"/>
          </a:p>
        </p:txBody>
      </p:sp>
      <p:sp>
        <p:nvSpPr>
          <p:cNvPr id="3" name="자막영역"/>
          <p:cNvSpPr txBox="1"/>
          <p:nvPr/>
        </p:nvSpPr>
        <p:spPr>
          <a:xfrm>
            <a:off x="260604" y="6012180"/>
            <a:ext cx="4661611" cy="125272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5F6F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첫 줄 FROM은 어떤 이미지에서 시작할지 정합니다. 여기서는 alpine을 사용합니다.</a:t>
            </a:r>
            <a:endParaRPr lang="en-US" sz="1500" dirty="0"/>
          </a:p>
        </p:txBody>
      </p:sp>
      <p:sp>
        <p:nvSpPr>
          <p:cNvPr id="5" name="터미널탭"/>
          <p:cNvSpPr/>
          <p:nvPr/>
        </p:nvSpPr>
        <p:spPr>
          <a:xfrm>
            <a:off x="395935" y="2404872"/>
            <a:ext cx="1542593" cy="319126"/>
          </a:xfrm>
          <a:prstGeom prst="roundRect">
            <a:avLst>
              <a:gd name="adj" fmla="val 17192"/>
            </a:avLst>
          </a:prstGeom>
          <a:solidFill>
            <a:srgbClr val="13141C"/>
          </a:solidFill>
          <a:ln w="9525">
            <a:solidFill>
              <a:srgbClr val="393B4A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395935" y="2404872"/>
            <a:ext cx="1542593" cy="3191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25" b="1" dirty="0">
                <a:solidFill>
                  <a:srgbClr val="F5F6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terminal</a:t>
            </a:r>
            <a:endParaRPr lang="en-US" sz="1125" dirty="0"/>
          </a:p>
        </p:txBody>
      </p:sp>
      <p:sp>
        <p:nvSpPr>
          <p:cNvPr id="7" name="터미널박스"/>
          <p:cNvSpPr/>
          <p:nvPr/>
        </p:nvSpPr>
        <p:spPr>
          <a:xfrm>
            <a:off x="395935" y="2827325"/>
            <a:ext cx="4526280" cy="2124151"/>
          </a:xfrm>
          <a:prstGeom prst="roundRect">
            <a:avLst>
              <a:gd name="adj" fmla="val 3444"/>
            </a:avLst>
          </a:prstGeom>
          <a:solidFill>
            <a:srgbClr val="13141C"/>
          </a:solidFill>
          <a:ln w="9525">
            <a:solidFill>
              <a:srgbClr val="393B4A"/>
            </a:solidFill>
            <a:prstDash val="solid"/>
          </a:ln>
        </p:spPr>
      </p:sp>
      <p:sp>
        <p:nvSpPr>
          <p:cNvPr id="8" name="터미널줄1"/>
          <p:cNvSpPr txBox="1"/>
          <p:nvPr/>
        </p:nvSpPr>
        <p:spPr>
          <a:xfrm>
            <a:off x="523951" y="2955341"/>
            <a:ext cx="4270248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0FA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user@PC:~/hello$ </a:t>
            </a:r>
            <a:pPr indent="0" marL="0">
              <a:buNone/>
            </a:pPr>
            <a:r>
              <a:rPr lang="en-US" sz="1100" dirty="0">
                <a:solidFill>
                  <a:srgbClr val="F5F6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cat Dockerfile</a:t>
            </a:r>
            <a:endParaRPr lang="en-US" sz="1100" dirty="0"/>
          </a:p>
        </p:txBody>
      </p:sp>
      <p:sp>
        <p:nvSpPr>
          <p:cNvPr id="9" name="터미널줄2"/>
          <p:cNvSpPr txBox="1"/>
          <p:nvPr/>
        </p:nvSpPr>
        <p:spPr>
          <a:xfrm>
            <a:off x="523951" y="3183941"/>
            <a:ext cx="4270248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5F6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alpine</a:t>
            </a:r>
            <a:endParaRPr lang="en-US" sz="1100" dirty="0"/>
          </a:p>
        </p:txBody>
      </p:sp>
      <p:sp>
        <p:nvSpPr>
          <p:cNvPr id="10" name="강조"/>
          <p:cNvSpPr/>
          <p:nvPr/>
        </p:nvSpPr>
        <p:spPr>
          <a:xfrm>
            <a:off x="459943" y="3174797"/>
            <a:ext cx="4398264" cy="246888"/>
          </a:xfrm>
          <a:prstGeom prst="roundRect">
            <a:avLst>
              <a:gd name="adj" fmla="val 18519"/>
            </a:avLst>
          </a:prstGeom>
          <a:solidFill>
            <a:srgbClr val="13141C">
              <a:alpha val="0"/>
            </a:srgbClr>
          </a:solidFill>
          <a:ln w="22225">
            <a:solidFill>
              <a:srgbClr val="FF79C6"/>
            </a:solidFill>
            <a:prstDash val="solid"/>
          </a:ln>
        </p:spPr>
      </p:sp>
      <p:sp>
        <p:nvSpPr>
          <p:cNvPr id="11" name="터미널줄3"/>
          <p:cNvSpPr txBox="1"/>
          <p:nvPr/>
        </p:nvSpPr>
        <p:spPr>
          <a:xfrm>
            <a:off x="523951" y="3412541"/>
            <a:ext cx="4270248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5F6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RUN echo "Hello Dockerfile" &gt; /hello.txt</a:t>
            </a:r>
            <a:endParaRPr lang="en-US" sz="1100" dirty="0"/>
          </a:p>
        </p:txBody>
      </p:sp>
      <p:sp>
        <p:nvSpPr>
          <p:cNvPr id="12" name="터미널줄4"/>
          <p:cNvSpPr txBox="1"/>
          <p:nvPr/>
        </p:nvSpPr>
        <p:spPr>
          <a:xfrm>
            <a:off x="523951" y="3641141"/>
            <a:ext cx="4270248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5F6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CMD ["cat", "/hello.txt"]</a:t>
            </a:r>
            <a:endParaRPr lang="en-US" sz="1100" dirty="0"/>
          </a:p>
        </p:txBody>
      </p:sp>
      <p:sp>
        <p:nvSpPr>
          <p:cNvPr id="13" name="설명라벨"/>
          <p:cNvSpPr/>
          <p:nvPr/>
        </p:nvSpPr>
        <p:spPr>
          <a:xfrm>
            <a:off x="395935" y="5157216"/>
            <a:ext cx="4526280" cy="384048"/>
          </a:xfrm>
          <a:prstGeom prst="roundRect">
            <a:avLst>
              <a:gd name="adj" fmla="val 14286"/>
            </a:avLst>
          </a:prstGeom>
          <a:solidFill>
            <a:srgbClr val="3B2F55"/>
          </a:solidFill>
          <a:ln w="6350">
            <a:solidFill>
              <a:srgbClr val="3B2F55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395935" y="5157216"/>
            <a:ext cx="4526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5F6F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FROM: 시작할 베이스 이미지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E1F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타이틀"/>
          <p:cNvSpPr txBox="1"/>
          <p:nvPr/>
        </p:nvSpPr>
        <p:spPr>
          <a:xfrm>
            <a:off x="209398" y="1158545"/>
            <a:ext cx="4663440" cy="8311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dirty="0">
                <a:solidFill>
                  <a:srgbClr val="F5F6FA"/>
                </a:solidFill>
                <a:latin typeface="HY견고딕" pitchFamily="34" charset="0"/>
                <a:ea typeface="HY견고딕" pitchFamily="34" charset="-122"/>
                <a:cs typeface="HY견고딕" pitchFamily="34" charset="-120"/>
              </a:rPr>
              <a:t>6회차 · 내 첫 Dockerfile</a:t>
            </a:r>
            <a:endParaRPr lang="en-US" sz="2400" dirty="0"/>
          </a:p>
        </p:txBody>
      </p:sp>
      <p:sp>
        <p:nvSpPr>
          <p:cNvPr id="3" name="자막영역"/>
          <p:cNvSpPr txBox="1"/>
          <p:nvPr/>
        </p:nvSpPr>
        <p:spPr>
          <a:xfrm>
            <a:off x="260604" y="6012180"/>
            <a:ext cx="4661611" cy="125272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5F6F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RUN은 이미지를 만드는 동안 실행할 명령입니다. 여기서는 파일 하나를 만듭니다.</a:t>
            </a:r>
            <a:endParaRPr lang="en-US" sz="1500" dirty="0"/>
          </a:p>
        </p:txBody>
      </p:sp>
      <p:sp>
        <p:nvSpPr>
          <p:cNvPr id="5" name="터미널탭"/>
          <p:cNvSpPr/>
          <p:nvPr/>
        </p:nvSpPr>
        <p:spPr>
          <a:xfrm>
            <a:off x="395935" y="2404872"/>
            <a:ext cx="1542593" cy="319126"/>
          </a:xfrm>
          <a:prstGeom prst="roundRect">
            <a:avLst>
              <a:gd name="adj" fmla="val 17192"/>
            </a:avLst>
          </a:prstGeom>
          <a:solidFill>
            <a:srgbClr val="13141C"/>
          </a:solidFill>
          <a:ln w="9525">
            <a:solidFill>
              <a:srgbClr val="393B4A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395935" y="2404872"/>
            <a:ext cx="1542593" cy="3191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25" b="1" dirty="0">
                <a:solidFill>
                  <a:srgbClr val="F5F6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terminal</a:t>
            </a:r>
            <a:endParaRPr lang="en-US" sz="1125" dirty="0"/>
          </a:p>
        </p:txBody>
      </p:sp>
      <p:sp>
        <p:nvSpPr>
          <p:cNvPr id="7" name="터미널박스"/>
          <p:cNvSpPr/>
          <p:nvPr/>
        </p:nvSpPr>
        <p:spPr>
          <a:xfrm>
            <a:off x="395935" y="2827325"/>
            <a:ext cx="4526280" cy="2124151"/>
          </a:xfrm>
          <a:prstGeom prst="roundRect">
            <a:avLst>
              <a:gd name="adj" fmla="val 3444"/>
            </a:avLst>
          </a:prstGeom>
          <a:solidFill>
            <a:srgbClr val="13141C"/>
          </a:solidFill>
          <a:ln w="9525">
            <a:solidFill>
              <a:srgbClr val="393B4A"/>
            </a:solidFill>
            <a:prstDash val="solid"/>
          </a:ln>
        </p:spPr>
      </p:sp>
      <p:sp>
        <p:nvSpPr>
          <p:cNvPr id="8" name="터미널줄1"/>
          <p:cNvSpPr txBox="1"/>
          <p:nvPr/>
        </p:nvSpPr>
        <p:spPr>
          <a:xfrm>
            <a:off x="523951" y="2955341"/>
            <a:ext cx="4270248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0FA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user@PC:~/hello$ </a:t>
            </a:r>
            <a:pPr indent="0" marL="0">
              <a:buNone/>
            </a:pPr>
            <a:r>
              <a:rPr lang="en-US" sz="1100" dirty="0">
                <a:solidFill>
                  <a:srgbClr val="F5F6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cat Dockerfile</a:t>
            </a:r>
            <a:endParaRPr lang="en-US" sz="1100" dirty="0"/>
          </a:p>
        </p:txBody>
      </p:sp>
      <p:sp>
        <p:nvSpPr>
          <p:cNvPr id="9" name="터미널줄2"/>
          <p:cNvSpPr txBox="1"/>
          <p:nvPr/>
        </p:nvSpPr>
        <p:spPr>
          <a:xfrm>
            <a:off x="523951" y="3183941"/>
            <a:ext cx="4270248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5F6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alpine</a:t>
            </a:r>
            <a:endParaRPr lang="en-US" sz="1100" dirty="0"/>
          </a:p>
        </p:txBody>
      </p:sp>
      <p:sp>
        <p:nvSpPr>
          <p:cNvPr id="10" name="터미널줄3"/>
          <p:cNvSpPr txBox="1"/>
          <p:nvPr/>
        </p:nvSpPr>
        <p:spPr>
          <a:xfrm>
            <a:off x="523951" y="3412541"/>
            <a:ext cx="4270248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5F6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RUN echo "Hello Dockerfile" &gt; /hello.txt</a:t>
            </a:r>
            <a:endParaRPr lang="en-US" sz="1100" dirty="0"/>
          </a:p>
        </p:txBody>
      </p:sp>
      <p:sp>
        <p:nvSpPr>
          <p:cNvPr id="11" name="강조"/>
          <p:cNvSpPr/>
          <p:nvPr/>
        </p:nvSpPr>
        <p:spPr>
          <a:xfrm>
            <a:off x="459943" y="3403397"/>
            <a:ext cx="4398264" cy="246888"/>
          </a:xfrm>
          <a:prstGeom prst="roundRect">
            <a:avLst>
              <a:gd name="adj" fmla="val 18519"/>
            </a:avLst>
          </a:prstGeom>
          <a:solidFill>
            <a:srgbClr val="13141C">
              <a:alpha val="0"/>
            </a:srgbClr>
          </a:solidFill>
          <a:ln w="22225">
            <a:solidFill>
              <a:srgbClr val="FF79C6"/>
            </a:solidFill>
            <a:prstDash val="solid"/>
          </a:ln>
        </p:spPr>
      </p:sp>
      <p:sp>
        <p:nvSpPr>
          <p:cNvPr id="12" name="터미널줄4"/>
          <p:cNvSpPr txBox="1"/>
          <p:nvPr/>
        </p:nvSpPr>
        <p:spPr>
          <a:xfrm>
            <a:off x="523951" y="3641141"/>
            <a:ext cx="4270248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5F6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CMD ["cat", "/hello.txt"]</a:t>
            </a:r>
            <a:endParaRPr lang="en-US" sz="1100" dirty="0"/>
          </a:p>
        </p:txBody>
      </p:sp>
      <p:sp>
        <p:nvSpPr>
          <p:cNvPr id="13" name="설명라벨"/>
          <p:cNvSpPr/>
          <p:nvPr/>
        </p:nvSpPr>
        <p:spPr>
          <a:xfrm>
            <a:off x="395935" y="5157216"/>
            <a:ext cx="4526280" cy="384048"/>
          </a:xfrm>
          <a:prstGeom prst="roundRect">
            <a:avLst>
              <a:gd name="adj" fmla="val 14286"/>
            </a:avLst>
          </a:prstGeom>
          <a:solidFill>
            <a:srgbClr val="3B2F55"/>
          </a:solidFill>
          <a:ln w="6350">
            <a:solidFill>
              <a:srgbClr val="3B2F55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395935" y="5157216"/>
            <a:ext cx="4526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5F6F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RUN: 이미지를 만들 때 실행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E1F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타이틀"/>
          <p:cNvSpPr txBox="1"/>
          <p:nvPr/>
        </p:nvSpPr>
        <p:spPr>
          <a:xfrm>
            <a:off x="209398" y="1158545"/>
            <a:ext cx="4663440" cy="8311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dirty="0">
                <a:solidFill>
                  <a:srgbClr val="F5F6FA"/>
                </a:solidFill>
                <a:latin typeface="HY견고딕" pitchFamily="34" charset="0"/>
                <a:ea typeface="HY견고딕" pitchFamily="34" charset="-122"/>
                <a:cs typeface="HY견고딕" pitchFamily="34" charset="-120"/>
              </a:rPr>
              <a:t>6회차 · 내 첫 Dockerfile</a:t>
            </a:r>
            <a:endParaRPr lang="en-US" sz="2400" dirty="0"/>
          </a:p>
        </p:txBody>
      </p:sp>
      <p:sp>
        <p:nvSpPr>
          <p:cNvPr id="3" name="자막영역"/>
          <p:cNvSpPr txBox="1"/>
          <p:nvPr/>
        </p:nvSpPr>
        <p:spPr>
          <a:xfrm>
            <a:off x="260604" y="6012180"/>
            <a:ext cx="4661611" cy="125272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5F6F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CMD는 컨테이너가 시작될 때 실행할 명령입니다. 만들어 둔 파일을 출력합니다.</a:t>
            </a:r>
            <a:endParaRPr lang="en-US" sz="1500" dirty="0"/>
          </a:p>
        </p:txBody>
      </p:sp>
      <p:sp>
        <p:nvSpPr>
          <p:cNvPr id="5" name="터미널탭"/>
          <p:cNvSpPr/>
          <p:nvPr/>
        </p:nvSpPr>
        <p:spPr>
          <a:xfrm>
            <a:off x="395935" y="2404872"/>
            <a:ext cx="1542593" cy="319126"/>
          </a:xfrm>
          <a:prstGeom prst="roundRect">
            <a:avLst>
              <a:gd name="adj" fmla="val 17192"/>
            </a:avLst>
          </a:prstGeom>
          <a:solidFill>
            <a:srgbClr val="13141C"/>
          </a:solidFill>
          <a:ln w="9525">
            <a:solidFill>
              <a:srgbClr val="393B4A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395935" y="2404872"/>
            <a:ext cx="1542593" cy="3191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25" b="1" dirty="0">
                <a:solidFill>
                  <a:srgbClr val="F5F6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terminal</a:t>
            </a:r>
            <a:endParaRPr lang="en-US" sz="1125" dirty="0"/>
          </a:p>
        </p:txBody>
      </p:sp>
      <p:sp>
        <p:nvSpPr>
          <p:cNvPr id="7" name="터미널박스"/>
          <p:cNvSpPr/>
          <p:nvPr/>
        </p:nvSpPr>
        <p:spPr>
          <a:xfrm>
            <a:off x="395935" y="2827325"/>
            <a:ext cx="4526280" cy="2124151"/>
          </a:xfrm>
          <a:prstGeom prst="roundRect">
            <a:avLst>
              <a:gd name="adj" fmla="val 3444"/>
            </a:avLst>
          </a:prstGeom>
          <a:solidFill>
            <a:srgbClr val="13141C"/>
          </a:solidFill>
          <a:ln w="9525">
            <a:solidFill>
              <a:srgbClr val="393B4A"/>
            </a:solidFill>
            <a:prstDash val="solid"/>
          </a:ln>
        </p:spPr>
      </p:sp>
      <p:sp>
        <p:nvSpPr>
          <p:cNvPr id="8" name="터미널줄1"/>
          <p:cNvSpPr txBox="1"/>
          <p:nvPr/>
        </p:nvSpPr>
        <p:spPr>
          <a:xfrm>
            <a:off x="523951" y="2955341"/>
            <a:ext cx="4270248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0FA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user@PC:~/hello$ </a:t>
            </a:r>
            <a:pPr indent="0" marL="0">
              <a:buNone/>
            </a:pPr>
            <a:r>
              <a:rPr lang="en-US" sz="1100" dirty="0">
                <a:solidFill>
                  <a:srgbClr val="F5F6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cat Dockerfile</a:t>
            </a:r>
            <a:endParaRPr lang="en-US" sz="1100" dirty="0"/>
          </a:p>
        </p:txBody>
      </p:sp>
      <p:sp>
        <p:nvSpPr>
          <p:cNvPr id="9" name="터미널줄2"/>
          <p:cNvSpPr txBox="1"/>
          <p:nvPr/>
        </p:nvSpPr>
        <p:spPr>
          <a:xfrm>
            <a:off x="523951" y="3183941"/>
            <a:ext cx="4270248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5F6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alpine</a:t>
            </a:r>
            <a:endParaRPr lang="en-US" sz="1100" dirty="0"/>
          </a:p>
        </p:txBody>
      </p:sp>
      <p:sp>
        <p:nvSpPr>
          <p:cNvPr id="10" name="터미널줄3"/>
          <p:cNvSpPr txBox="1"/>
          <p:nvPr/>
        </p:nvSpPr>
        <p:spPr>
          <a:xfrm>
            <a:off x="523951" y="3412541"/>
            <a:ext cx="4270248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5F6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RUN echo "Hello Dockerfile" &gt; /hello.txt</a:t>
            </a:r>
            <a:endParaRPr lang="en-US" sz="1100" dirty="0"/>
          </a:p>
        </p:txBody>
      </p:sp>
      <p:sp>
        <p:nvSpPr>
          <p:cNvPr id="11" name="터미널줄4"/>
          <p:cNvSpPr txBox="1"/>
          <p:nvPr/>
        </p:nvSpPr>
        <p:spPr>
          <a:xfrm>
            <a:off x="523951" y="3641141"/>
            <a:ext cx="4270248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5F6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CMD ["cat", "/hello.txt"]</a:t>
            </a:r>
            <a:endParaRPr lang="en-US" sz="1100" dirty="0"/>
          </a:p>
        </p:txBody>
      </p:sp>
      <p:sp>
        <p:nvSpPr>
          <p:cNvPr id="12" name="강조"/>
          <p:cNvSpPr/>
          <p:nvPr/>
        </p:nvSpPr>
        <p:spPr>
          <a:xfrm>
            <a:off x="459943" y="3631997"/>
            <a:ext cx="4398264" cy="246888"/>
          </a:xfrm>
          <a:prstGeom prst="roundRect">
            <a:avLst>
              <a:gd name="adj" fmla="val 18519"/>
            </a:avLst>
          </a:prstGeom>
          <a:solidFill>
            <a:srgbClr val="13141C">
              <a:alpha val="0"/>
            </a:srgbClr>
          </a:solidFill>
          <a:ln w="22225">
            <a:solidFill>
              <a:srgbClr val="FF79C6"/>
            </a:solidFill>
            <a:prstDash val="solid"/>
          </a:ln>
        </p:spPr>
      </p:sp>
      <p:sp>
        <p:nvSpPr>
          <p:cNvPr id="13" name="설명라벨"/>
          <p:cNvSpPr/>
          <p:nvPr/>
        </p:nvSpPr>
        <p:spPr>
          <a:xfrm>
            <a:off x="395935" y="5157216"/>
            <a:ext cx="4526280" cy="384048"/>
          </a:xfrm>
          <a:prstGeom prst="roundRect">
            <a:avLst>
              <a:gd name="adj" fmla="val 14286"/>
            </a:avLst>
          </a:prstGeom>
          <a:solidFill>
            <a:srgbClr val="3B2F55"/>
          </a:solidFill>
          <a:ln w="6350">
            <a:solidFill>
              <a:srgbClr val="3B2F55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395935" y="5157216"/>
            <a:ext cx="4526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5F6F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CMD: 컨테이너가 시작될 때 실행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E1F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타이틀"/>
          <p:cNvSpPr txBox="1"/>
          <p:nvPr/>
        </p:nvSpPr>
        <p:spPr>
          <a:xfrm>
            <a:off x="209398" y="1158545"/>
            <a:ext cx="4663440" cy="8311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dirty="0">
                <a:solidFill>
                  <a:srgbClr val="F5F6FA"/>
                </a:solidFill>
                <a:latin typeface="HY견고딕" pitchFamily="34" charset="0"/>
                <a:ea typeface="HY견고딕" pitchFamily="34" charset="-122"/>
                <a:cs typeface="HY견고딕" pitchFamily="34" charset="-120"/>
              </a:rPr>
              <a:t>6회차 · 내 첫 Dockerfile</a:t>
            </a:r>
            <a:endParaRPr lang="en-US" sz="2400" dirty="0"/>
          </a:p>
        </p:txBody>
      </p:sp>
      <p:sp>
        <p:nvSpPr>
          <p:cNvPr id="3" name="자막영역"/>
          <p:cNvSpPr txBox="1"/>
          <p:nvPr/>
        </p:nvSpPr>
        <p:spPr>
          <a:xfrm>
            <a:off x="260604" y="6012180"/>
            <a:ext cx="4661611" cy="125272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5F6F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docker build로 이미지를 만듭니다. -t 옵션은 이미지 이름이고, 마지막 점은 현재 폴더입니다.</a:t>
            </a:r>
            <a:endParaRPr lang="en-US" sz="1500" dirty="0"/>
          </a:p>
        </p:txBody>
      </p:sp>
      <p:sp>
        <p:nvSpPr>
          <p:cNvPr id="5" name="터미널탭"/>
          <p:cNvSpPr/>
          <p:nvPr/>
        </p:nvSpPr>
        <p:spPr>
          <a:xfrm>
            <a:off x="395935" y="2404872"/>
            <a:ext cx="1542593" cy="319126"/>
          </a:xfrm>
          <a:prstGeom prst="roundRect">
            <a:avLst>
              <a:gd name="adj" fmla="val 17192"/>
            </a:avLst>
          </a:prstGeom>
          <a:solidFill>
            <a:srgbClr val="13141C"/>
          </a:solidFill>
          <a:ln w="9525">
            <a:solidFill>
              <a:srgbClr val="393B4A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395935" y="2404872"/>
            <a:ext cx="1542593" cy="3191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25" b="1" dirty="0">
                <a:solidFill>
                  <a:srgbClr val="F5F6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terminal</a:t>
            </a:r>
            <a:endParaRPr lang="en-US" sz="1125" dirty="0"/>
          </a:p>
        </p:txBody>
      </p:sp>
      <p:sp>
        <p:nvSpPr>
          <p:cNvPr id="7" name="터미널박스"/>
          <p:cNvSpPr/>
          <p:nvPr/>
        </p:nvSpPr>
        <p:spPr>
          <a:xfrm>
            <a:off x="395935" y="2827325"/>
            <a:ext cx="4526280" cy="2124151"/>
          </a:xfrm>
          <a:prstGeom prst="roundRect">
            <a:avLst>
              <a:gd name="adj" fmla="val 3444"/>
            </a:avLst>
          </a:prstGeom>
          <a:solidFill>
            <a:srgbClr val="13141C"/>
          </a:solidFill>
          <a:ln w="9525">
            <a:solidFill>
              <a:srgbClr val="393B4A"/>
            </a:solidFill>
            <a:prstDash val="solid"/>
          </a:ln>
        </p:spPr>
      </p:sp>
      <p:sp>
        <p:nvSpPr>
          <p:cNvPr id="8" name="터미널줄1"/>
          <p:cNvSpPr txBox="1"/>
          <p:nvPr/>
        </p:nvSpPr>
        <p:spPr>
          <a:xfrm>
            <a:off x="523951" y="2955341"/>
            <a:ext cx="4270248" cy="203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0FA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user@PC:~/hello$ </a:t>
            </a:r>
            <a:pPr indent="0" marL="0">
              <a:buNone/>
            </a:pPr>
            <a:r>
              <a:rPr lang="en-US" sz="1000" dirty="0">
                <a:solidFill>
                  <a:srgbClr val="F5F6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docker build -t hello .</a:t>
            </a:r>
            <a:endParaRPr lang="en-US" sz="1000" dirty="0"/>
          </a:p>
        </p:txBody>
      </p:sp>
      <p:sp>
        <p:nvSpPr>
          <p:cNvPr id="9" name="강조"/>
          <p:cNvSpPr/>
          <p:nvPr/>
        </p:nvSpPr>
        <p:spPr>
          <a:xfrm>
            <a:off x="459943" y="2946197"/>
            <a:ext cx="4398264" cy="221488"/>
          </a:xfrm>
          <a:prstGeom prst="roundRect">
            <a:avLst>
              <a:gd name="adj" fmla="val 20642"/>
            </a:avLst>
          </a:prstGeom>
          <a:solidFill>
            <a:srgbClr val="13141C">
              <a:alpha val="0"/>
            </a:srgbClr>
          </a:solidFill>
          <a:ln w="22225">
            <a:solidFill>
              <a:srgbClr val="FF79C6"/>
            </a:solidFill>
            <a:prstDash val="solid"/>
          </a:ln>
        </p:spPr>
      </p:sp>
      <p:sp>
        <p:nvSpPr>
          <p:cNvPr id="10" name="터미널줄2"/>
          <p:cNvSpPr txBox="1"/>
          <p:nvPr/>
        </p:nvSpPr>
        <p:spPr>
          <a:xfrm>
            <a:off x="523951" y="3158541"/>
            <a:ext cx="4270248" cy="203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...</a:t>
            </a:r>
            <a:endParaRPr lang="en-US" sz="1000" dirty="0"/>
          </a:p>
        </p:txBody>
      </p:sp>
      <p:sp>
        <p:nvSpPr>
          <p:cNvPr id="11" name="터미널줄3"/>
          <p:cNvSpPr txBox="1"/>
          <p:nvPr/>
        </p:nvSpPr>
        <p:spPr>
          <a:xfrm>
            <a:off x="523951" y="3361741"/>
            <a:ext cx="4270248" cy="203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5F6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#4 [1/2] FROM docker.io/library/alpine:latest</a:t>
            </a:r>
            <a:endParaRPr lang="en-US" sz="1000" dirty="0"/>
          </a:p>
        </p:txBody>
      </p:sp>
      <p:sp>
        <p:nvSpPr>
          <p:cNvPr id="12" name="터미널줄4"/>
          <p:cNvSpPr txBox="1"/>
          <p:nvPr/>
        </p:nvSpPr>
        <p:spPr>
          <a:xfrm>
            <a:off x="523951" y="3564941"/>
            <a:ext cx="4270248" cy="203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5F6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#5 [2/2] RUN echo "Hello Dockerfile" &gt; /hello.txt</a:t>
            </a:r>
            <a:endParaRPr lang="en-US" sz="1000" dirty="0"/>
          </a:p>
        </p:txBody>
      </p:sp>
      <p:sp>
        <p:nvSpPr>
          <p:cNvPr id="13" name="강조"/>
          <p:cNvSpPr/>
          <p:nvPr/>
        </p:nvSpPr>
        <p:spPr>
          <a:xfrm>
            <a:off x="459943" y="3555797"/>
            <a:ext cx="4398264" cy="221488"/>
          </a:xfrm>
          <a:prstGeom prst="roundRect">
            <a:avLst>
              <a:gd name="adj" fmla="val 20642"/>
            </a:avLst>
          </a:prstGeom>
          <a:solidFill>
            <a:srgbClr val="13141C">
              <a:alpha val="0"/>
            </a:srgbClr>
          </a:solidFill>
          <a:ln w="22225">
            <a:solidFill>
              <a:srgbClr val="FF79C6"/>
            </a:solidFill>
            <a:prstDash val="solid"/>
          </a:ln>
        </p:spPr>
      </p:sp>
      <p:sp>
        <p:nvSpPr>
          <p:cNvPr id="14" name="터미널줄5"/>
          <p:cNvSpPr txBox="1"/>
          <p:nvPr/>
        </p:nvSpPr>
        <p:spPr>
          <a:xfrm>
            <a:off x="523951" y="3768141"/>
            <a:ext cx="4270248" cy="203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...</a:t>
            </a:r>
            <a:endParaRPr lang="en-US" sz="1000" dirty="0"/>
          </a:p>
        </p:txBody>
      </p:sp>
      <p:sp>
        <p:nvSpPr>
          <p:cNvPr id="15" name="터미널줄6"/>
          <p:cNvSpPr txBox="1"/>
          <p:nvPr/>
        </p:nvSpPr>
        <p:spPr>
          <a:xfrm>
            <a:off x="523951" y="3971341"/>
            <a:ext cx="4270248" cy="203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5F6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#6 naming to docker.io/library/hello:latest done</a:t>
            </a:r>
            <a:endParaRPr lang="en-US" sz="1000" dirty="0"/>
          </a:p>
        </p:txBody>
      </p:sp>
      <p:sp>
        <p:nvSpPr>
          <p:cNvPr id="16" name="설명라벨"/>
          <p:cNvSpPr/>
          <p:nvPr/>
        </p:nvSpPr>
        <p:spPr>
          <a:xfrm>
            <a:off x="395935" y="5157216"/>
            <a:ext cx="4526280" cy="384048"/>
          </a:xfrm>
          <a:prstGeom prst="roundRect">
            <a:avLst>
              <a:gd name="adj" fmla="val 14286"/>
            </a:avLst>
          </a:prstGeom>
          <a:solidFill>
            <a:srgbClr val="3B2F55"/>
          </a:solidFill>
          <a:ln w="6350">
            <a:solidFill>
              <a:srgbClr val="3B2F55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395935" y="5157216"/>
            <a:ext cx="4526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5F6F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이미지 만들기: docker build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E1F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타이틀"/>
          <p:cNvSpPr txBox="1"/>
          <p:nvPr/>
        </p:nvSpPr>
        <p:spPr>
          <a:xfrm>
            <a:off x="209398" y="1158545"/>
            <a:ext cx="4663440" cy="8311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dirty="0">
                <a:solidFill>
                  <a:srgbClr val="F5F6FA"/>
                </a:solidFill>
                <a:latin typeface="HY견고딕" pitchFamily="34" charset="0"/>
                <a:ea typeface="HY견고딕" pitchFamily="34" charset="-122"/>
                <a:cs typeface="HY견고딕" pitchFamily="34" charset="-120"/>
              </a:rPr>
              <a:t>6회차 · 내 첫 Dockerfile</a:t>
            </a:r>
            <a:endParaRPr lang="en-US" sz="2400" dirty="0"/>
          </a:p>
        </p:txBody>
      </p:sp>
      <p:sp>
        <p:nvSpPr>
          <p:cNvPr id="3" name="자막영역"/>
          <p:cNvSpPr txBox="1"/>
          <p:nvPr/>
        </p:nvSpPr>
        <p:spPr>
          <a:xfrm>
            <a:off x="260604" y="6012180"/>
            <a:ext cx="4661611" cy="125272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5F6F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docker images로 보면 방금 만든 hello 이미지가 보입니다.</a:t>
            </a:r>
            <a:endParaRPr lang="en-US" sz="1500" dirty="0"/>
          </a:p>
        </p:txBody>
      </p:sp>
      <p:sp>
        <p:nvSpPr>
          <p:cNvPr id="5" name="터미널탭"/>
          <p:cNvSpPr/>
          <p:nvPr/>
        </p:nvSpPr>
        <p:spPr>
          <a:xfrm>
            <a:off x="395935" y="2404872"/>
            <a:ext cx="1542593" cy="319126"/>
          </a:xfrm>
          <a:prstGeom prst="roundRect">
            <a:avLst>
              <a:gd name="adj" fmla="val 17192"/>
            </a:avLst>
          </a:prstGeom>
          <a:solidFill>
            <a:srgbClr val="13141C"/>
          </a:solidFill>
          <a:ln w="9525">
            <a:solidFill>
              <a:srgbClr val="393B4A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395935" y="2404872"/>
            <a:ext cx="1542593" cy="3191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25" b="1" dirty="0">
                <a:solidFill>
                  <a:srgbClr val="F5F6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terminal</a:t>
            </a:r>
            <a:endParaRPr lang="en-US" sz="1125" dirty="0"/>
          </a:p>
        </p:txBody>
      </p:sp>
      <p:sp>
        <p:nvSpPr>
          <p:cNvPr id="7" name="터미널박스"/>
          <p:cNvSpPr/>
          <p:nvPr/>
        </p:nvSpPr>
        <p:spPr>
          <a:xfrm>
            <a:off x="395935" y="2827325"/>
            <a:ext cx="4526280" cy="2124151"/>
          </a:xfrm>
          <a:prstGeom prst="roundRect">
            <a:avLst>
              <a:gd name="adj" fmla="val 3444"/>
            </a:avLst>
          </a:prstGeom>
          <a:solidFill>
            <a:srgbClr val="13141C"/>
          </a:solidFill>
          <a:ln w="9525">
            <a:solidFill>
              <a:srgbClr val="393B4A"/>
            </a:solidFill>
            <a:prstDash val="solid"/>
          </a:ln>
        </p:spPr>
      </p:sp>
      <p:sp>
        <p:nvSpPr>
          <p:cNvPr id="8" name="터미널줄1"/>
          <p:cNvSpPr txBox="1"/>
          <p:nvPr/>
        </p:nvSpPr>
        <p:spPr>
          <a:xfrm>
            <a:off x="523951" y="2955341"/>
            <a:ext cx="4270248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0FA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user@PC:~/hello$ </a:t>
            </a:r>
            <a:pPr indent="0" marL="0">
              <a:buNone/>
            </a:pPr>
            <a:r>
              <a:rPr lang="en-US" sz="1100" dirty="0">
                <a:solidFill>
                  <a:srgbClr val="F5F6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docker images hello</a:t>
            </a:r>
            <a:endParaRPr lang="en-US" sz="1100" dirty="0"/>
          </a:p>
        </p:txBody>
      </p:sp>
      <p:sp>
        <p:nvSpPr>
          <p:cNvPr id="9" name="터미널줄2"/>
          <p:cNvSpPr txBox="1"/>
          <p:nvPr/>
        </p:nvSpPr>
        <p:spPr>
          <a:xfrm>
            <a:off x="523951" y="3183941"/>
            <a:ext cx="4270248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IMAGE          ID             DISK USAGE</a:t>
            </a:r>
            <a:endParaRPr lang="en-US" sz="1100" dirty="0"/>
          </a:p>
        </p:txBody>
      </p:sp>
      <p:sp>
        <p:nvSpPr>
          <p:cNvPr id="10" name="터미널줄3"/>
          <p:cNvSpPr txBox="1"/>
          <p:nvPr/>
        </p:nvSpPr>
        <p:spPr>
          <a:xfrm>
            <a:off x="523951" y="3412541"/>
            <a:ext cx="4270248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5F6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hello:latest   a2efb18b426b   12.9MB</a:t>
            </a:r>
            <a:endParaRPr lang="en-US" sz="1100" dirty="0"/>
          </a:p>
        </p:txBody>
      </p:sp>
      <p:sp>
        <p:nvSpPr>
          <p:cNvPr id="11" name="강조"/>
          <p:cNvSpPr/>
          <p:nvPr/>
        </p:nvSpPr>
        <p:spPr>
          <a:xfrm>
            <a:off x="459943" y="3403397"/>
            <a:ext cx="4398264" cy="246888"/>
          </a:xfrm>
          <a:prstGeom prst="roundRect">
            <a:avLst>
              <a:gd name="adj" fmla="val 18519"/>
            </a:avLst>
          </a:prstGeom>
          <a:solidFill>
            <a:srgbClr val="13141C">
              <a:alpha val="0"/>
            </a:srgbClr>
          </a:solidFill>
          <a:ln w="22225">
            <a:solidFill>
              <a:srgbClr val="50FA7B"/>
            </a:solidFill>
            <a:prstDash val="solid"/>
          </a:ln>
        </p:spPr>
      </p:sp>
      <p:sp>
        <p:nvSpPr>
          <p:cNvPr id="12" name="설명라벨"/>
          <p:cNvSpPr/>
          <p:nvPr/>
        </p:nvSpPr>
        <p:spPr>
          <a:xfrm>
            <a:off x="395935" y="5157216"/>
            <a:ext cx="4526280" cy="384048"/>
          </a:xfrm>
          <a:prstGeom prst="roundRect">
            <a:avLst>
              <a:gd name="adj" fmla="val 14286"/>
            </a:avLst>
          </a:prstGeom>
          <a:solidFill>
            <a:srgbClr val="24473A"/>
          </a:solidFill>
          <a:ln w="6350">
            <a:solidFill>
              <a:srgbClr val="24473A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395935" y="5157216"/>
            <a:ext cx="4526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5F6F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만들어진 이미지: hello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E1F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타이틀"/>
          <p:cNvSpPr txBox="1"/>
          <p:nvPr/>
        </p:nvSpPr>
        <p:spPr>
          <a:xfrm>
            <a:off x="209398" y="1158545"/>
            <a:ext cx="4663440" cy="8311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dirty="0">
                <a:solidFill>
                  <a:srgbClr val="F5F6FA"/>
                </a:solidFill>
                <a:latin typeface="HY견고딕" pitchFamily="34" charset="0"/>
                <a:ea typeface="HY견고딕" pitchFamily="34" charset="-122"/>
                <a:cs typeface="HY견고딕" pitchFamily="34" charset="-120"/>
              </a:rPr>
              <a:t>6회차 · 내 첫 Dockerfile</a:t>
            </a:r>
            <a:endParaRPr lang="en-US" sz="2400" dirty="0"/>
          </a:p>
        </p:txBody>
      </p:sp>
      <p:sp>
        <p:nvSpPr>
          <p:cNvPr id="3" name="자막영역"/>
          <p:cNvSpPr txBox="1"/>
          <p:nvPr/>
        </p:nvSpPr>
        <p:spPr>
          <a:xfrm>
            <a:off x="260604" y="6012180"/>
            <a:ext cx="4661611" cy="125272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5F6F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docker run으로 실행하면 CMD에 적어 둔 명령이 실행됩니다.</a:t>
            </a:r>
            <a:endParaRPr lang="en-US" sz="1500" dirty="0"/>
          </a:p>
        </p:txBody>
      </p:sp>
      <p:sp>
        <p:nvSpPr>
          <p:cNvPr id="5" name="터미널탭"/>
          <p:cNvSpPr/>
          <p:nvPr/>
        </p:nvSpPr>
        <p:spPr>
          <a:xfrm>
            <a:off x="395935" y="2404872"/>
            <a:ext cx="1542593" cy="319126"/>
          </a:xfrm>
          <a:prstGeom prst="roundRect">
            <a:avLst>
              <a:gd name="adj" fmla="val 17192"/>
            </a:avLst>
          </a:prstGeom>
          <a:solidFill>
            <a:srgbClr val="13141C"/>
          </a:solidFill>
          <a:ln w="9525">
            <a:solidFill>
              <a:srgbClr val="393B4A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395935" y="2404872"/>
            <a:ext cx="1542593" cy="3191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25" b="1" dirty="0">
                <a:solidFill>
                  <a:srgbClr val="F5F6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terminal</a:t>
            </a:r>
            <a:endParaRPr lang="en-US" sz="1125" dirty="0"/>
          </a:p>
        </p:txBody>
      </p:sp>
      <p:sp>
        <p:nvSpPr>
          <p:cNvPr id="7" name="터미널박스"/>
          <p:cNvSpPr/>
          <p:nvPr/>
        </p:nvSpPr>
        <p:spPr>
          <a:xfrm>
            <a:off x="395935" y="2827325"/>
            <a:ext cx="4526280" cy="2124151"/>
          </a:xfrm>
          <a:prstGeom prst="roundRect">
            <a:avLst>
              <a:gd name="adj" fmla="val 3444"/>
            </a:avLst>
          </a:prstGeom>
          <a:solidFill>
            <a:srgbClr val="13141C"/>
          </a:solidFill>
          <a:ln w="9525">
            <a:solidFill>
              <a:srgbClr val="393B4A"/>
            </a:solidFill>
            <a:prstDash val="solid"/>
          </a:ln>
        </p:spPr>
      </p:sp>
      <p:sp>
        <p:nvSpPr>
          <p:cNvPr id="8" name="터미널줄1"/>
          <p:cNvSpPr txBox="1"/>
          <p:nvPr/>
        </p:nvSpPr>
        <p:spPr>
          <a:xfrm>
            <a:off x="523951" y="2955341"/>
            <a:ext cx="4270248" cy="2413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0FA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user@PC:~/hello$ </a:t>
            </a:r>
            <a:pPr indent="0" marL="0">
              <a:buNone/>
            </a:pPr>
            <a:r>
              <a:rPr lang="en-US" sz="1200" dirty="0">
                <a:solidFill>
                  <a:srgbClr val="F5F6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docker run --rm hello</a:t>
            </a:r>
            <a:endParaRPr lang="en-US" sz="1200" dirty="0"/>
          </a:p>
        </p:txBody>
      </p:sp>
      <p:sp>
        <p:nvSpPr>
          <p:cNvPr id="9" name="터미널줄2"/>
          <p:cNvSpPr txBox="1"/>
          <p:nvPr/>
        </p:nvSpPr>
        <p:spPr>
          <a:xfrm>
            <a:off x="523951" y="3196641"/>
            <a:ext cx="4270248" cy="2413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5F6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Hello Dockerfile</a:t>
            </a:r>
            <a:endParaRPr lang="en-US" sz="1200" dirty="0"/>
          </a:p>
        </p:txBody>
      </p:sp>
      <p:sp>
        <p:nvSpPr>
          <p:cNvPr id="10" name="강조"/>
          <p:cNvSpPr/>
          <p:nvPr/>
        </p:nvSpPr>
        <p:spPr>
          <a:xfrm>
            <a:off x="459943" y="3187497"/>
            <a:ext cx="4398264" cy="259588"/>
          </a:xfrm>
          <a:prstGeom prst="roundRect">
            <a:avLst>
              <a:gd name="adj" fmla="val 17613"/>
            </a:avLst>
          </a:prstGeom>
          <a:solidFill>
            <a:srgbClr val="13141C">
              <a:alpha val="0"/>
            </a:srgbClr>
          </a:solidFill>
          <a:ln w="22225">
            <a:solidFill>
              <a:srgbClr val="50FA7B"/>
            </a:solidFill>
            <a:prstDash val="solid"/>
          </a:ln>
        </p:spPr>
      </p:sp>
      <p:sp>
        <p:nvSpPr>
          <p:cNvPr id="11" name="설명라벨"/>
          <p:cNvSpPr/>
          <p:nvPr/>
        </p:nvSpPr>
        <p:spPr>
          <a:xfrm>
            <a:off x="395935" y="5157216"/>
            <a:ext cx="4526280" cy="384048"/>
          </a:xfrm>
          <a:prstGeom prst="roundRect">
            <a:avLst>
              <a:gd name="adj" fmla="val 14286"/>
            </a:avLst>
          </a:prstGeom>
          <a:solidFill>
            <a:srgbClr val="24473A"/>
          </a:solidFill>
          <a:ln w="6350">
            <a:solidFill>
              <a:srgbClr val="24473A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395935" y="5157216"/>
            <a:ext cx="4526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5F6F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컨테이너 실행: docker run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E1F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타이틀"/>
          <p:cNvSpPr txBox="1"/>
          <p:nvPr/>
        </p:nvSpPr>
        <p:spPr>
          <a:xfrm>
            <a:off x="209398" y="1158545"/>
            <a:ext cx="4663440" cy="8311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dirty="0">
                <a:solidFill>
                  <a:srgbClr val="F5F6FA"/>
                </a:solidFill>
                <a:latin typeface="HY견고딕" pitchFamily="34" charset="0"/>
                <a:ea typeface="HY견고딕" pitchFamily="34" charset="-122"/>
                <a:cs typeface="HY견고딕" pitchFamily="34" charset="-120"/>
              </a:rPr>
              <a:t>6회차 · 내 첫 Dockerfile</a:t>
            </a:r>
            <a:endParaRPr lang="en-US" sz="2400" dirty="0"/>
          </a:p>
        </p:txBody>
      </p:sp>
      <p:sp>
        <p:nvSpPr>
          <p:cNvPr id="3" name="자막영역"/>
          <p:cNvSpPr txBox="1"/>
          <p:nvPr/>
        </p:nvSpPr>
        <p:spPr>
          <a:xfrm>
            <a:off x="260604" y="6012180"/>
            <a:ext cx="4661611" cy="125272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5F6F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FROM, RUN, CMD로 이미지를 설계하고,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dirty="0">
                <a:solidFill>
                  <a:srgbClr val="F5F6F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docker build로 만듭니다.</a:t>
            </a:r>
            <a:endParaRPr lang="en-US" sz="1500" dirty="0"/>
          </a:p>
        </p:txBody>
      </p:sp>
      <p:sp>
        <p:nvSpPr>
          <p:cNvPr id="5" name="요약행1"/>
          <p:cNvSpPr/>
          <p:nvPr/>
        </p:nvSpPr>
        <p:spPr>
          <a:xfrm>
            <a:off x="411480" y="2377440"/>
            <a:ext cx="4297680" cy="731520"/>
          </a:xfrm>
          <a:prstGeom prst="roundRect">
            <a:avLst>
              <a:gd name="adj" fmla="val 12500"/>
            </a:avLst>
          </a:prstGeom>
          <a:solidFill>
            <a:srgbClr val="13141C"/>
          </a:solidFill>
          <a:ln w="9525">
            <a:solidFill>
              <a:srgbClr val="393B4A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548640" y="2377440"/>
            <a:ext cx="2103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79C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</a:t>
            </a:r>
            <a:endParaRPr lang="en-US" sz="1300" dirty="0"/>
          </a:p>
        </p:txBody>
      </p:sp>
      <p:sp>
        <p:nvSpPr>
          <p:cNvPr id="7" name="Text 4"/>
          <p:cNvSpPr txBox="1"/>
          <p:nvPr/>
        </p:nvSpPr>
        <p:spPr>
          <a:xfrm>
            <a:off x="2697480" y="2377440"/>
            <a:ext cx="2011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5F6F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시작할 이미지</a:t>
            </a:r>
            <a:endParaRPr lang="en-US" sz="1400" dirty="0"/>
          </a:p>
        </p:txBody>
      </p:sp>
      <p:sp>
        <p:nvSpPr>
          <p:cNvPr id="8" name="요약행2"/>
          <p:cNvSpPr/>
          <p:nvPr/>
        </p:nvSpPr>
        <p:spPr>
          <a:xfrm>
            <a:off x="411480" y="3246120"/>
            <a:ext cx="4297680" cy="731520"/>
          </a:xfrm>
          <a:prstGeom prst="roundRect">
            <a:avLst>
              <a:gd name="adj" fmla="val 12500"/>
            </a:avLst>
          </a:prstGeom>
          <a:solidFill>
            <a:srgbClr val="13141C"/>
          </a:solidFill>
          <a:ln w="9525">
            <a:solidFill>
              <a:srgbClr val="393B4A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548640" y="3246120"/>
            <a:ext cx="2103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79C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RUN</a:t>
            </a:r>
            <a:endParaRPr lang="en-US" sz="1300" dirty="0"/>
          </a:p>
        </p:txBody>
      </p:sp>
      <p:sp>
        <p:nvSpPr>
          <p:cNvPr id="10" name="Text 7"/>
          <p:cNvSpPr txBox="1"/>
          <p:nvPr/>
        </p:nvSpPr>
        <p:spPr>
          <a:xfrm>
            <a:off x="2697480" y="3246120"/>
            <a:ext cx="2011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5F6F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빌드할 때 실행</a:t>
            </a:r>
            <a:endParaRPr lang="en-US" sz="1400" dirty="0"/>
          </a:p>
        </p:txBody>
      </p:sp>
      <p:sp>
        <p:nvSpPr>
          <p:cNvPr id="11" name="요약행3"/>
          <p:cNvSpPr/>
          <p:nvPr/>
        </p:nvSpPr>
        <p:spPr>
          <a:xfrm>
            <a:off x="411480" y="4114800"/>
            <a:ext cx="4297680" cy="731520"/>
          </a:xfrm>
          <a:prstGeom prst="roundRect">
            <a:avLst>
              <a:gd name="adj" fmla="val 12500"/>
            </a:avLst>
          </a:prstGeom>
          <a:solidFill>
            <a:srgbClr val="13141C"/>
          </a:solidFill>
          <a:ln w="9525">
            <a:solidFill>
              <a:srgbClr val="393B4A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548640" y="4114800"/>
            <a:ext cx="2103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79C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CMD</a:t>
            </a:r>
            <a:endParaRPr lang="en-US" sz="1300" dirty="0"/>
          </a:p>
        </p:txBody>
      </p:sp>
      <p:sp>
        <p:nvSpPr>
          <p:cNvPr id="13" name="Text 10"/>
          <p:cNvSpPr txBox="1"/>
          <p:nvPr/>
        </p:nvSpPr>
        <p:spPr>
          <a:xfrm>
            <a:off x="2697480" y="4114800"/>
            <a:ext cx="2011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5F6F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컨테이너 시작 때 실행</a:t>
            </a:r>
            <a:endParaRPr lang="en-US" sz="1400" dirty="0"/>
          </a:p>
        </p:txBody>
      </p:sp>
      <p:sp>
        <p:nvSpPr>
          <p:cNvPr id="14" name="요약행4"/>
          <p:cNvSpPr/>
          <p:nvPr/>
        </p:nvSpPr>
        <p:spPr>
          <a:xfrm>
            <a:off x="411480" y="4983480"/>
            <a:ext cx="4297680" cy="731520"/>
          </a:xfrm>
          <a:prstGeom prst="roundRect">
            <a:avLst>
              <a:gd name="adj" fmla="val 12500"/>
            </a:avLst>
          </a:prstGeom>
          <a:solidFill>
            <a:srgbClr val="13141C"/>
          </a:solidFill>
          <a:ln w="9525">
            <a:solidFill>
              <a:srgbClr val="393B4A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548640" y="4983480"/>
            <a:ext cx="2103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79C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docker build -t</a:t>
            </a:r>
            <a:endParaRPr lang="en-US" sz="1300" dirty="0"/>
          </a:p>
        </p:txBody>
      </p:sp>
      <p:sp>
        <p:nvSpPr>
          <p:cNvPr id="16" name="Text 13"/>
          <p:cNvSpPr txBox="1"/>
          <p:nvPr/>
        </p:nvSpPr>
        <p:spPr>
          <a:xfrm>
            <a:off x="2697480" y="4983480"/>
            <a:ext cx="2011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5F6F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이미지 만들기</a:t>
            </a:r>
            <a:endParaRPr lang="en-US" sz="1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E1F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타이틀"/>
          <p:cNvSpPr txBox="1"/>
          <p:nvPr/>
        </p:nvSpPr>
        <p:spPr>
          <a:xfrm>
            <a:off x="209398" y="1158545"/>
            <a:ext cx="4663440" cy="8311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dirty="0">
                <a:solidFill>
                  <a:srgbClr val="F5F6FA"/>
                </a:solidFill>
                <a:latin typeface="HY견고딕" pitchFamily="34" charset="0"/>
                <a:ea typeface="HY견고딕" pitchFamily="34" charset="-122"/>
                <a:cs typeface="HY견고딕" pitchFamily="34" charset="-120"/>
              </a:rPr>
              <a:t>6회차 · 내 첫 Dockerfile</a:t>
            </a:r>
            <a:endParaRPr lang="en-US" sz="2400" dirty="0"/>
          </a:p>
        </p:txBody>
      </p:sp>
      <p:sp>
        <p:nvSpPr>
          <p:cNvPr id="3" name="자막영역"/>
          <p:cNvSpPr txBox="1"/>
          <p:nvPr/>
        </p:nvSpPr>
        <p:spPr>
          <a:xfrm>
            <a:off x="260604" y="6012180"/>
            <a:ext cx="4661611" cy="125272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5F6F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다음 시간에는 내 파일을 이미지에 넣는 방법을 알아봅니다.</a:t>
            </a:r>
            <a:endParaRPr lang="en-US" sz="1500" dirty="0"/>
          </a:p>
        </p:txBody>
      </p:sp>
      <p:sp>
        <p:nvSpPr>
          <p:cNvPr id="5" name="화면영역"/>
          <p:cNvSpPr/>
          <p:nvPr/>
        </p:nvSpPr>
        <p:spPr>
          <a:xfrm>
            <a:off x="260604" y="2202790"/>
            <a:ext cx="4661611" cy="3556102"/>
          </a:xfrm>
          <a:prstGeom prst="roundRect">
            <a:avLst>
              <a:gd name="adj" fmla="val 5143"/>
            </a:avLst>
          </a:prstGeom>
          <a:solidFill>
            <a:srgbClr val="3B2F55"/>
          </a:solidFill>
          <a:ln w="19050">
            <a:solidFill>
              <a:srgbClr val="FF79C6"/>
            </a:solidFill>
            <a:prstDash val="solid"/>
          </a:ln>
        </p:spPr>
      </p:sp>
      <p:sp>
        <p:nvSpPr>
          <p:cNvPr id="6" name="다음회차"/>
          <p:cNvSpPr txBox="1"/>
          <p:nvPr/>
        </p:nvSpPr>
        <p:spPr>
          <a:xfrm>
            <a:off x="260604" y="2202790"/>
            <a:ext cx="4661611" cy="355610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79C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NEXT</a:t>
            </a:r>
            <a:endParaRPr lang="en-US" sz="1600" dirty="0"/>
          </a:p>
          <a:p>
            <a:pPr algn="ctr" indent="0" marL="0">
              <a:buNone/>
            </a:pPr>
            <a:r>
              <a:rPr lang="en-US" sz="2000" dirty="0">
                <a:solidFill>
                  <a:srgbClr val="F5F6FA"/>
                </a:solidFill>
                <a:latin typeface="HY견고딕" pitchFamily="34" charset="0"/>
                <a:ea typeface="HY견고딕" pitchFamily="34" charset="-122"/>
                <a:cs typeface="HY견고딕" pitchFamily="34" charset="-120"/>
              </a:rPr>
              <a:t>7회차</a:t>
            </a:r>
            <a:endParaRPr lang="en-US" sz="1600" dirty="0"/>
          </a:p>
          <a:p>
            <a:pPr algn="ctr" indent="0" marL="0">
              <a:buNone/>
            </a:pPr>
            <a:r>
              <a:rPr lang="en-US" sz="3000" dirty="0">
                <a:solidFill>
                  <a:srgbClr val="F5F6FA"/>
                </a:solidFill>
                <a:latin typeface="HY견고딕" pitchFamily="34" charset="0"/>
                <a:ea typeface="HY견고딕" pitchFamily="34" charset="-122"/>
                <a:cs typeface="HY견고딕" pitchFamily="34" charset="-120"/>
              </a:rPr>
              <a:t>Dockerfile 실전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Docker 6회차 내 첫 Dockerfile</dc:title>
  <dc:subject>PptxGenJS Presentation</dc:subject>
  <dc:creator>PptxGenJS</dc:creator>
  <cp:lastModifiedBy>PptxGenJS</cp:lastModifiedBy>
  <cp:revision>1</cp:revision>
  <dcterms:created xsi:type="dcterms:W3CDTF">2026-10-08T07:50:19Z</dcterms:created>
  <dcterms:modified xsi:type="dcterms:W3CDTF">2026-10-08T07:50:19Z</dcterms:modified>
</cp:coreProperties>
</file>