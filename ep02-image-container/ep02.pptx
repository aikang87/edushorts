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5143500" cy="9144000"/>
  <p:notesSz cx="9144000" cy="5143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[0:00-0:06] 이번 시간에는 Docker의 핵심, 이미지와 컨테이너를 알아봅니다.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[0:06-0:14] 이미지는 실행에 필요한 모든 것을 담은 설계도, 컨테이너는 그 이미지를 실행한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[0:14-0:20] docker pull 명령으로 Docker Hub에서 nginx 이미지를 내려받습니다.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[0:20-0:26] 마지막에 Downloaded 메시지가 나오면 내려받기가 끝난 것입니다. (화면은 긴 진행 출력의 일부만 표시)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[0:26-0:32] docker images로 내려받은 이미지를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[0:32-0:40] docker run으로 이미지를 컨테이너로 실행합니다. -d는 백그라운드 실행, --name은 컨테이너 이름입니다. (컨테이너 ID는 앞부분만 표시)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[0:40-0:46] docker ps로 실행 중인 컨테이너를 확인합니다. Up이면 실행 중입니다. (일부 열 생략)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[0:46-0:52] 같은 이미지로 컨테이너를 여러 개 실행할 수도 있습니다. (일부 열 생략)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[0:52-0:57] 정리합니다. pull로 받고, images로 확인하고, run으로 실행하고, ps로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[0:57-1:00] 다음 시간에는 컨테이너를 켜고 끄는 방법을 알아봅니다.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F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타이틀"/>
          <p:cNvSpPr txBox="1"/>
          <p:nvPr/>
        </p:nvSpPr>
        <p:spPr>
          <a:xfrm>
            <a:off x="209398" y="1158545"/>
            <a:ext cx="4663440" cy="831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5F6FA"/>
                </a:solidFill>
                <a:latin typeface="HY견고딕" pitchFamily="34" charset="0"/>
                <a:ea typeface="HY견고딕" pitchFamily="34" charset="-122"/>
                <a:cs typeface="HY견고딕" pitchFamily="34" charset="-120"/>
              </a:rPr>
              <a:t>VSCODE와 Docker로 만드는</a:t>
            </a:r>
            <a:endParaRPr lang="en-US" sz="2400" dirty="0"/>
          </a:p>
          <a:p>
            <a:pPr algn="l" indent="0" marL="0">
              <a:buNone/>
            </a:pPr>
            <a:r>
              <a:rPr lang="en-US" sz="2400" dirty="0">
                <a:solidFill>
                  <a:srgbClr val="F5F6FA"/>
                </a:solidFill>
                <a:latin typeface="HY견고딕" pitchFamily="34" charset="0"/>
                <a:ea typeface="HY견고딕" pitchFamily="34" charset="-122"/>
                <a:cs typeface="HY견고딕" pitchFamily="34" charset="-120"/>
              </a:rPr>
              <a:t>생성형AI</a:t>
            </a:r>
            <a:endParaRPr lang="en-US" sz="2400" dirty="0"/>
          </a:p>
        </p:txBody>
      </p:sp>
      <p:sp>
        <p:nvSpPr>
          <p:cNvPr id="3" name="자막영역"/>
          <p:cNvSpPr txBox="1"/>
          <p:nvPr/>
        </p:nvSpPr>
        <p:spPr>
          <a:xfrm>
            <a:off x="260604" y="6012180"/>
            <a:ext cx="4661611" cy="12527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5F6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시간에는 Docker의 핵심, 이미지와 컨테이너를 알아봅니다.</a:t>
            </a:r>
            <a:endParaRPr lang="en-US" sz="1500" dirty="0"/>
          </a:p>
        </p:txBody>
      </p:sp>
      <p:sp>
        <p:nvSpPr>
          <p:cNvPr id="5" name="화면영역"/>
          <p:cNvSpPr/>
          <p:nvPr/>
        </p:nvSpPr>
        <p:spPr>
          <a:xfrm>
            <a:off x="260604" y="2202790"/>
            <a:ext cx="4661611" cy="3556102"/>
          </a:xfrm>
          <a:prstGeom prst="roundRect">
            <a:avLst>
              <a:gd name="adj" fmla="val 5143"/>
            </a:avLst>
          </a:prstGeom>
          <a:solidFill>
            <a:srgbClr val="3B2F55"/>
          </a:solidFill>
          <a:ln w="19050">
            <a:solidFill>
              <a:srgbClr val="FF79C6"/>
            </a:solidFill>
            <a:prstDash val="solid"/>
          </a:ln>
        </p:spPr>
      </p:sp>
      <p:sp>
        <p:nvSpPr>
          <p:cNvPr id="6" name="회차주제"/>
          <p:cNvSpPr txBox="1"/>
          <p:nvPr/>
        </p:nvSpPr>
        <p:spPr>
          <a:xfrm>
            <a:off x="260604" y="2202790"/>
            <a:ext cx="4661611" cy="35561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F5F6FA"/>
                </a:solidFill>
                <a:latin typeface="HY견고딕" pitchFamily="34" charset="0"/>
                <a:ea typeface="HY견고딕" pitchFamily="34" charset="-122"/>
                <a:cs typeface="HY견고딕" pitchFamily="34" charset="-120"/>
              </a:rPr>
              <a:t>2회차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dirty="0">
                <a:solidFill>
                  <a:srgbClr val="F5F6FA"/>
                </a:solidFill>
                <a:latin typeface="HY견고딕" pitchFamily="34" charset="0"/>
                <a:ea typeface="HY견고딕" pitchFamily="34" charset="-122"/>
                <a:cs typeface="HY견고딕" pitchFamily="34" charset="-120"/>
              </a:rPr>
              <a:t>이미지와 컨테이너</a:t>
            </a:r>
            <a:endParaRPr lang="en-US" sz="3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1F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타이틀"/>
          <p:cNvSpPr txBox="1"/>
          <p:nvPr/>
        </p:nvSpPr>
        <p:spPr>
          <a:xfrm>
            <a:off x="209398" y="1158545"/>
            <a:ext cx="4663440" cy="831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5F6FA"/>
                </a:solidFill>
                <a:latin typeface="HY견고딕" pitchFamily="34" charset="0"/>
                <a:ea typeface="HY견고딕" pitchFamily="34" charset="-122"/>
                <a:cs typeface="HY견고딕" pitchFamily="34" charset="-120"/>
              </a:rPr>
              <a:t>2회차 · 이미지와 컨테이너</a:t>
            </a:r>
            <a:endParaRPr lang="en-US" sz="2400" dirty="0"/>
          </a:p>
        </p:txBody>
      </p:sp>
      <p:sp>
        <p:nvSpPr>
          <p:cNvPr id="3" name="자막영역"/>
          <p:cNvSpPr txBox="1"/>
          <p:nvPr/>
        </p:nvSpPr>
        <p:spPr>
          <a:xfrm>
            <a:off x="260604" y="6012180"/>
            <a:ext cx="4661611" cy="12527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5F6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이미지는 실행에 필요한 모든 것을 담은 설계도, 컨테이너는 그 이미지를 실행한 것입니다.</a:t>
            </a:r>
            <a:endParaRPr lang="en-US" sz="1500" dirty="0"/>
          </a:p>
        </p:txBody>
      </p:sp>
      <p:sp>
        <p:nvSpPr>
          <p:cNvPr id="5" name="이미지카드"/>
          <p:cNvSpPr/>
          <p:nvPr/>
        </p:nvSpPr>
        <p:spPr>
          <a:xfrm>
            <a:off x="822960" y="2377440"/>
            <a:ext cx="3474720" cy="1097280"/>
          </a:xfrm>
          <a:prstGeom prst="roundRect">
            <a:avLst>
              <a:gd name="adj" fmla="val 12500"/>
            </a:avLst>
          </a:prstGeom>
          <a:solidFill>
            <a:srgbClr val="3B2F55"/>
          </a:solidFill>
          <a:ln w="19050">
            <a:solidFill>
              <a:srgbClr val="FF79C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2377440"/>
            <a:ext cx="347472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F6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 (Image)</a:t>
            </a:r>
            <a:endParaRPr lang="en-US" sz="20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5F6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설계도 · 읽기 전용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6118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79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▼  docker run</a:t>
            </a:r>
            <a:endParaRPr lang="en-US" sz="1400" dirty="0"/>
          </a:p>
        </p:txBody>
      </p:sp>
      <p:sp>
        <p:nvSpPr>
          <p:cNvPr id="8" name="컨테이너카드"/>
          <p:cNvSpPr/>
          <p:nvPr/>
        </p:nvSpPr>
        <p:spPr>
          <a:xfrm>
            <a:off x="822960" y="4251960"/>
            <a:ext cx="3474720" cy="1097280"/>
          </a:xfrm>
          <a:prstGeom prst="roundRect">
            <a:avLst>
              <a:gd name="adj" fmla="val 12500"/>
            </a:avLst>
          </a:prstGeom>
          <a:solidFill>
            <a:srgbClr val="24473A"/>
          </a:solidFill>
          <a:ln w="19050">
            <a:solidFill>
              <a:srgbClr val="50FA7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4251960"/>
            <a:ext cx="347472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F6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컨테이너 (Container)</a:t>
            </a:r>
            <a:endParaRPr lang="en-US" sz="20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5F6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 중인 앱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1F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타이틀"/>
          <p:cNvSpPr txBox="1"/>
          <p:nvPr/>
        </p:nvSpPr>
        <p:spPr>
          <a:xfrm>
            <a:off x="209398" y="1158545"/>
            <a:ext cx="4663440" cy="831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5F6FA"/>
                </a:solidFill>
                <a:latin typeface="HY견고딕" pitchFamily="34" charset="0"/>
                <a:ea typeface="HY견고딕" pitchFamily="34" charset="-122"/>
                <a:cs typeface="HY견고딕" pitchFamily="34" charset="-120"/>
              </a:rPr>
              <a:t>2회차 · 이미지와 컨테이너</a:t>
            </a:r>
            <a:endParaRPr lang="en-US" sz="2400" dirty="0"/>
          </a:p>
        </p:txBody>
      </p:sp>
      <p:sp>
        <p:nvSpPr>
          <p:cNvPr id="3" name="자막영역"/>
          <p:cNvSpPr txBox="1"/>
          <p:nvPr/>
        </p:nvSpPr>
        <p:spPr>
          <a:xfrm>
            <a:off x="260604" y="6012180"/>
            <a:ext cx="4661611" cy="12527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5F6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docker pull 명령으로 Docker Hub에서 nginx 이미지를 내려받습니다.</a:t>
            </a:r>
            <a:endParaRPr lang="en-US" sz="1500" dirty="0"/>
          </a:p>
        </p:txBody>
      </p:sp>
      <p:sp>
        <p:nvSpPr>
          <p:cNvPr id="5" name="터미널탭"/>
          <p:cNvSpPr/>
          <p:nvPr/>
        </p:nvSpPr>
        <p:spPr>
          <a:xfrm>
            <a:off x="395935" y="2404872"/>
            <a:ext cx="1542593" cy="319126"/>
          </a:xfrm>
          <a:prstGeom prst="roundRect">
            <a:avLst>
              <a:gd name="adj" fmla="val 17192"/>
            </a:avLst>
          </a:prstGeom>
          <a:solidFill>
            <a:srgbClr val="13141C"/>
          </a:solidFill>
          <a:ln w="9525">
            <a:solidFill>
              <a:srgbClr val="393B4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395935" y="2404872"/>
            <a:ext cx="1542593" cy="319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F5F6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terminal</a:t>
            </a:r>
            <a:endParaRPr lang="en-US" sz="1125" dirty="0"/>
          </a:p>
        </p:txBody>
      </p:sp>
      <p:sp>
        <p:nvSpPr>
          <p:cNvPr id="7" name="터미널박스"/>
          <p:cNvSpPr/>
          <p:nvPr/>
        </p:nvSpPr>
        <p:spPr>
          <a:xfrm>
            <a:off x="395935" y="2827325"/>
            <a:ext cx="4526280" cy="2124151"/>
          </a:xfrm>
          <a:prstGeom prst="roundRect">
            <a:avLst>
              <a:gd name="adj" fmla="val 3444"/>
            </a:avLst>
          </a:prstGeom>
          <a:solidFill>
            <a:srgbClr val="13141C"/>
          </a:solidFill>
          <a:ln w="9525">
            <a:solidFill>
              <a:srgbClr val="393B4A"/>
            </a:solidFill>
            <a:prstDash val="solid"/>
          </a:ln>
        </p:spPr>
      </p:sp>
      <p:sp>
        <p:nvSpPr>
          <p:cNvPr id="8" name="터미널줄1"/>
          <p:cNvSpPr txBox="1"/>
          <p:nvPr/>
        </p:nvSpPr>
        <p:spPr>
          <a:xfrm>
            <a:off x="523951" y="2955341"/>
            <a:ext cx="427024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0FA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user@PC:~$ </a:t>
            </a:r>
            <a:pPr indent="0" marL="0">
              <a:buNone/>
            </a:pPr>
            <a:r>
              <a:rPr lang="en-US" sz="1400" dirty="0">
                <a:solidFill>
                  <a:srgbClr val="F5F6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pull nginx:alpine</a:t>
            </a:r>
            <a:endParaRPr lang="en-US" sz="1400" dirty="0"/>
          </a:p>
        </p:txBody>
      </p:sp>
      <p:sp>
        <p:nvSpPr>
          <p:cNvPr id="9" name="강조"/>
          <p:cNvSpPr/>
          <p:nvPr/>
        </p:nvSpPr>
        <p:spPr>
          <a:xfrm>
            <a:off x="459943" y="2946197"/>
            <a:ext cx="4398264" cy="297688"/>
          </a:xfrm>
          <a:prstGeom prst="roundRect">
            <a:avLst>
              <a:gd name="adj" fmla="val 15358"/>
            </a:avLst>
          </a:prstGeom>
          <a:solidFill>
            <a:srgbClr val="13141C">
              <a:alpha val="0"/>
            </a:srgbClr>
          </a:solidFill>
          <a:ln w="22225">
            <a:solidFill>
              <a:srgbClr val="FF79C6"/>
            </a:solidFill>
            <a:prstDash val="solid"/>
          </a:ln>
        </p:spPr>
      </p:sp>
      <p:sp>
        <p:nvSpPr>
          <p:cNvPr id="10" name="설명라벨"/>
          <p:cNvSpPr/>
          <p:nvPr/>
        </p:nvSpPr>
        <p:spPr>
          <a:xfrm>
            <a:off x="395935" y="5157216"/>
            <a:ext cx="4526280" cy="384048"/>
          </a:xfrm>
          <a:prstGeom prst="roundRect">
            <a:avLst>
              <a:gd name="adj" fmla="val 14286"/>
            </a:avLst>
          </a:prstGeom>
          <a:solidFill>
            <a:srgbClr val="3B2F55"/>
          </a:solidFill>
          <a:ln w="6350">
            <a:solidFill>
              <a:srgbClr val="3B2F5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95935" y="5157216"/>
            <a:ext cx="4526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F6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 내려받기: docker pull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1F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타이틀"/>
          <p:cNvSpPr txBox="1"/>
          <p:nvPr/>
        </p:nvSpPr>
        <p:spPr>
          <a:xfrm>
            <a:off x="209398" y="1158545"/>
            <a:ext cx="4663440" cy="831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5F6FA"/>
                </a:solidFill>
                <a:latin typeface="HY견고딕" pitchFamily="34" charset="0"/>
                <a:ea typeface="HY견고딕" pitchFamily="34" charset="-122"/>
                <a:cs typeface="HY견고딕" pitchFamily="34" charset="-120"/>
              </a:rPr>
              <a:t>2회차 · 이미지와 컨테이너</a:t>
            </a:r>
            <a:endParaRPr lang="en-US" sz="2400" dirty="0"/>
          </a:p>
        </p:txBody>
      </p:sp>
      <p:sp>
        <p:nvSpPr>
          <p:cNvPr id="3" name="자막영역"/>
          <p:cNvSpPr txBox="1"/>
          <p:nvPr/>
        </p:nvSpPr>
        <p:spPr>
          <a:xfrm>
            <a:off x="260604" y="6012180"/>
            <a:ext cx="4661611" cy="12527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5F6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마지막에 Downloaded 메시지가 나오면 내려받기가 끝난 것입니다.</a:t>
            </a:r>
            <a:endParaRPr lang="en-US" sz="1500" dirty="0"/>
          </a:p>
        </p:txBody>
      </p:sp>
      <p:sp>
        <p:nvSpPr>
          <p:cNvPr id="5" name="터미널탭"/>
          <p:cNvSpPr/>
          <p:nvPr/>
        </p:nvSpPr>
        <p:spPr>
          <a:xfrm>
            <a:off x="395935" y="2404872"/>
            <a:ext cx="1542593" cy="319126"/>
          </a:xfrm>
          <a:prstGeom prst="roundRect">
            <a:avLst>
              <a:gd name="adj" fmla="val 17192"/>
            </a:avLst>
          </a:prstGeom>
          <a:solidFill>
            <a:srgbClr val="13141C"/>
          </a:solidFill>
          <a:ln w="9525">
            <a:solidFill>
              <a:srgbClr val="393B4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395935" y="2404872"/>
            <a:ext cx="1542593" cy="319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F5F6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terminal</a:t>
            </a:r>
            <a:endParaRPr lang="en-US" sz="1125" dirty="0"/>
          </a:p>
        </p:txBody>
      </p:sp>
      <p:sp>
        <p:nvSpPr>
          <p:cNvPr id="7" name="터미널박스"/>
          <p:cNvSpPr/>
          <p:nvPr/>
        </p:nvSpPr>
        <p:spPr>
          <a:xfrm>
            <a:off x="395935" y="2827325"/>
            <a:ext cx="4526280" cy="2124151"/>
          </a:xfrm>
          <a:prstGeom prst="roundRect">
            <a:avLst>
              <a:gd name="adj" fmla="val 3444"/>
            </a:avLst>
          </a:prstGeom>
          <a:solidFill>
            <a:srgbClr val="13141C"/>
          </a:solidFill>
          <a:ln w="9525">
            <a:solidFill>
              <a:srgbClr val="393B4A"/>
            </a:solidFill>
            <a:prstDash val="solid"/>
          </a:ln>
        </p:spPr>
      </p:sp>
      <p:sp>
        <p:nvSpPr>
          <p:cNvPr id="8" name="터미널줄1"/>
          <p:cNvSpPr txBox="1"/>
          <p:nvPr/>
        </p:nvSpPr>
        <p:spPr>
          <a:xfrm>
            <a:off x="523951" y="2955341"/>
            <a:ext cx="4270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0FA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user@PC:~$ </a:t>
            </a:r>
            <a:pPr indent="0" marL="0">
              <a:buNone/>
            </a:pPr>
            <a:r>
              <a:rPr lang="en-US" sz="1100" dirty="0">
                <a:solidFill>
                  <a:srgbClr val="F5F6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pull nginx:alpine</a:t>
            </a:r>
            <a:endParaRPr lang="en-US" sz="1100" dirty="0"/>
          </a:p>
        </p:txBody>
      </p:sp>
      <p:sp>
        <p:nvSpPr>
          <p:cNvPr id="9" name="터미널줄2"/>
          <p:cNvSpPr txBox="1"/>
          <p:nvPr/>
        </p:nvSpPr>
        <p:spPr>
          <a:xfrm>
            <a:off x="523951" y="3183941"/>
            <a:ext cx="4270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F6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alpine: Pulling from library/nginx</a:t>
            </a:r>
            <a:endParaRPr lang="en-US" sz="1100" dirty="0"/>
          </a:p>
        </p:txBody>
      </p:sp>
      <p:sp>
        <p:nvSpPr>
          <p:cNvPr id="10" name="터미널줄3"/>
          <p:cNvSpPr txBox="1"/>
          <p:nvPr/>
        </p:nvSpPr>
        <p:spPr>
          <a:xfrm>
            <a:off x="523951" y="3412541"/>
            <a:ext cx="4270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100" dirty="0"/>
          </a:p>
        </p:txBody>
      </p:sp>
      <p:sp>
        <p:nvSpPr>
          <p:cNvPr id="11" name="터미널줄4"/>
          <p:cNvSpPr txBox="1"/>
          <p:nvPr/>
        </p:nvSpPr>
        <p:spPr>
          <a:xfrm>
            <a:off x="523951" y="3641141"/>
            <a:ext cx="4270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F6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Digest: sha256:df221db836e1754089190208c…</a:t>
            </a:r>
            <a:endParaRPr lang="en-US" sz="1100" dirty="0"/>
          </a:p>
        </p:txBody>
      </p:sp>
      <p:sp>
        <p:nvSpPr>
          <p:cNvPr id="12" name="터미널줄5"/>
          <p:cNvSpPr txBox="1"/>
          <p:nvPr/>
        </p:nvSpPr>
        <p:spPr>
          <a:xfrm>
            <a:off x="523951" y="3869741"/>
            <a:ext cx="4270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F6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Status: Downloaded newer image for nginx:alpine</a:t>
            </a:r>
            <a:endParaRPr lang="en-US" sz="1100" dirty="0"/>
          </a:p>
        </p:txBody>
      </p:sp>
      <p:sp>
        <p:nvSpPr>
          <p:cNvPr id="13" name="강조"/>
          <p:cNvSpPr/>
          <p:nvPr/>
        </p:nvSpPr>
        <p:spPr>
          <a:xfrm>
            <a:off x="459943" y="3860597"/>
            <a:ext cx="4398264" cy="246888"/>
          </a:xfrm>
          <a:prstGeom prst="roundRect">
            <a:avLst>
              <a:gd name="adj" fmla="val 18519"/>
            </a:avLst>
          </a:prstGeom>
          <a:solidFill>
            <a:srgbClr val="13141C">
              <a:alpha val="0"/>
            </a:srgbClr>
          </a:solidFill>
          <a:ln w="22225">
            <a:solidFill>
              <a:srgbClr val="50FA7B"/>
            </a:solidFill>
            <a:prstDash val="solid"/>
          </a:ln>
        </p:spPr>
      </p:sp>
      <p:sp>
        <p:nvSpPr>
          <p:cNvPr id="14" name="설명라벨"/>
          <p:cNvSpPr/>
          <p:nvPr/>
        </p:nvSpPr>
        <p:spPr>
          <a:xfrm>
            <a:off x="395935" y="5157216"/>
            <a:ext cx="4526280" cy="384048"/>
          </a:xfrm>
          <a:prstGeom prst="roundRect">
            <a:avLst>
              <a:gd name="adj" fmla="val 14286"/>
            </a:avLst>
          </a:prstGeom>
          <a:solidFill>
            <a:srgbClr val="24473A"/>
          </a:solidFill>
          <a:ln w="6350">
            <a:solidFill>
              <a:srgbClr val="24473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95935" y="5157216"/>
            <a:ext cx="4526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F6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pull 실행 결과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1F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타이틀"/>
          <p:cNvSpPr txBox="1"/>
          <p:nvPr/>
        </p:nvSpPr>
        <p:spPr>
          <a:xfrm>
            <a:off x="209398" y="1158545"/>
            <a:ext cx="4663440" cy="831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5F6FA"/>
                </a:solidFill>
                <a:latin typeface="HY견고딕" pitchFamily="34" charset="0"/>
                <a:ea typeface="HY견고딕" pitchFamily="34" charset="-122"/>
                <a:cs typeface="HY견고딕" pitchFamily="34" charset="-120"/>
              </a:rPr>
              <a:t>2회차 · 이미지와 컨테이너</a:t>
            </a:r>
            <a:endParaRPr lang="en-US" sz="2400" dirty="0"/>
          </a:p>
        </p:txBody>
      </p:sp>
      <p:sp>
        <p:nvSpPr>
          <p:cNvPr id="3" name="자막영역"/>
          <p:cNvSpPr txBox="1"/>
          <p:nvPr/>
        </p:nvSpPr>
        <p:spPr>
          <a:xfrm>
            <a:off x="260604" y="6012180"/>
            <a:ext cx="4661611" cy="12527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5F6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docker images로 내려받은 이미지를 확인합니다.</a:t>
            </a:r>
            <a:endParaRPr lang="en-US" sz="1500" dirty="0"/>
          </a:p>
        </p:txBody>
      </p:sp>
      <p:sp>
        <p:nvSpPr>
          <p:cNvPr id="5" name="터미널탭"/>
          <p:cNvSpPr/>
          <p:nvPr/>
        </p:nvSpPr>
        <p:spPr>
          <a:xfrm>
            <a:off x="395935" y="2404872"/>
            <a:ext cx="1542593" cy="319126"/>
          </a:xfrm>
          <a:prstGeom prst="roundRect">
            <a:avLst>
              <a:gd name="adj" fmla="val 17192"/>
            </a:avLst>
          </a:prstGeom>
          <a:solidFill>
            <a:srgbClr val="13141C"/>
          </a:solidFill>
          <a:ln w="9525">
            <a:solidFill>
              <a:srgbClr val="393B4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395935" y="2404872"/>
            <a:ext cx="1542593" cy="319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F5F6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terminal</a:t>
            </a:r>
            <a:endParaRPr lang="en-US" sz="1125" dirty="0"/>
          </a:p>
        </p:txBody>
      </p:sp>
      <p:sp>
        <p:nvSpPr>
          <p:cNvPr id="7" name="터미널박스"/>
          <p:cNvSpPr/>
          <p:nvPr/>
        </p:nvSpPr>
        <p:spPr>
          <a:xfrm>
            <a:off x="395935" y="2827325"/>
            <a:ext cx="4526280" cy="2124151"/>
          </a:xfrm>
          <a:prstGeom prst="roundRect">
            <a:avLst>
              <a:gd name="adj" fmla="val 3444"/>
            </a:avLst>
          </a:prstGeom>
          <a:solidFill>
            <a:srgbClr val="13141C"/>
          </a:solidFill>
          <a:ln w="9525">
            <a:solidFill>
              <a:srgbClr val="393B4A"/>
            </a:solidFill>
            <a:prstDash val="solid"/>
          </a:ln>
        </p:spPr>
      </p:sp>
      <p:sp>
        <p:nvSpPr>
          <p:cNvPr id="8" name="터미널줄1"/>
          <p:cNvSpPr txBox="1"/>
          <p:nvPr/>
        </p:nvSpPr>
        <p:spPr>
          <a:xfrm>
            <a:off x="523951" y="2955341"/>
            <a:ext cx="4270248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0FA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user@PC:~$ </a:t>
            </a:r>
            <a:pPr indent="0" marL="0">
              <a:buNone/>
            </a:pPr>
            <a:r>
              <a:rPr lang="en-US" sz="1300" dirty="0">
                <a:solidFill>
                  <a:srgbClr val="F5F6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images</a:t>
            </a:r>
            <a:endParaRPr lang="en-US" sz="1300" dirty="0"/>
          </a:p>
        </p:txBody>
      </p:sp>
      <p:sp>
        <p:nvSpPr>
          <p:cNvPr id="9" name="터미널줄2"/>
          <p:cNvSpPr txBox="1"/>
          <p:nvPr/>
        </p:nvSpPr>
        <p:spPr>
          <a:xfrm>
            <a:off x="523951" y="3222041"/>
            <a:ext cx="4270248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IMAGE          ID             DISK USAGE</a:t>
            </a:r>
            <a:endParaRPr lang="en-US" sz="1300" dirty="0"/>
          </a:p>
        </p:txBody>
      </p:sp>
      <p:sp>
        <p:nvSpPr>
          <p:cNvPr id="10" name="터미널줄3"/>
          <p:cNvSpPr txBox="1"/>
          <p:nvPr/>
        </p:nvSpPr>
        <p:spPr>
          <a:xfrm>
            <a:off x="523951" y="3488741"/>
            <a:ext cx="4270248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6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nginx:alpine   df221db836e1   94.4MB</a:t>
            </a:r>
            <a:endParaRPr lang="en-US" sz="1300" dirty="0"/>
          </a:p>
        </p:txBody>
      </p:sp>
      <p:sp>
        <p:nvSpPr>
          <p:cNvPr id="11" name="강조"/>
          <p:cNvSpPr/>
          <p:nvPr/>
        </p:nvSpPr>
        <p:spPr>
          <a:xfrm>
            <a:off x="459943" y="3479597"/>
            <a:ext cx="4398264" cy="284988"/>
          </a:xfrm>
          <a:prstGeom prst="roundRect">
            <a:avLst>
              <a:gd name="adj" fmla="val 16043"/>
            </a:avLst>
          </a:prstGeom>
          <a:solidFill>
            <a:srgbClr val="13141C">
              <a:alpha val="0"/>
            </a:srgbClr>
          </a:solidFill>
          <a:ln w="22225">
            <a:solidFill>
              <a:srgbClr val="50FA7B"/>
            </a:solidFill>
            <a:prstDash val="solid"/>
          </a:ln>
        </p:spPr>
      </p:sp>
      <p:sp>
        <p:nvSpPr>
          <p:cNvPr id="12" name="설명라벨"/>
          <p:cNvSpPr/>
          <p:nvPr/>
        </p:nvSpPr>
        <p:spPr>
          <a:xfrm>
            <a:off x="395935" y="5157216"/>
            <a:ext cx="4526280" cy="384048"/>
          </a:xfrm>
          <a:prstGeom prst="roundRect">
            <a:avLst>
              <a:gd name="adj" fmla="val 14286"/>
            </a:avLst>
          </a:prstGeom>
          <a:solidFill>
            <a:srgbClr val="24473A"/>
          </a:solidFill>
          <a:ln w="6350">
            <a:solidFill>
              <a:srgbClr val="24473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95935" y="5157216"/>
            <a:ext cx="4526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F6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 목록: docker images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1F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타이틀"/>
          <p:cNvSpPr txBox="1"/>
          <p:nvPr/>
        </p:nvSpPr>
        <p:spPr>
          <a:xfrm>
            <a:off x="209398" y="1158545"/>
            <a:ext cx="4663440" cy="831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5F6FA"/>
                </a:solidFill>
                <a:latin typeface="HY견고딕" pitchFamily="34" charset="0"/>
                <a:ea typeface="HY견고딕" pitchFamily="34" charset="-122"/>
                <a:cs typeface="HY견고딕" pitchFamily="34" charset="-120"/>
              </a:rPr>
              <a:t>2회차 · 이미지와 컨테이너</a:t>
            </a:r>
            <a:endParaRPr lang="en-US" sz="2400" dirty="0"/>
          </a:p>
        </p:txBody>
      </p:sp>
      <p:sp>
        <p:nvSpPr>
          <p:cNvPr id="3" name="자막영역"/>
          <p:cNvSpPr txBox="1"/>
          <p:nvPr/>
        </p:nvSpPr>
        <p:spPr>
          <a:xfrm>
            <a:off x="260604" y="6012180"/>
            <a:ext cx="4661611" cy="12527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5F6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docker run으로 이미지를 컨테이너로 실행합니다. -d는 백그라운드, --name은 이름입니다.</a:t>
            </a:r>
            <a:endParaRPr lang="en-US" sz="1500" dirty="0"/>
          </a:p>
        </p:txBody>
      </p:sp>
      <p:sp>
        <p:nvSpPr>
          <p:cNvPr id="5" name="터미널탭"/>
          <p:cNvSpPr/>
          <p:nvPr/>
        </p:nvSpPr>
        <p:spPr>
          <a:xfrm>
            <a:off x="395935" y="2404872"/>
            <a:ext cx="1542593" cy="319126"/>
          </a:xfrm>
          <a:prstGeom prst="roundRect">
            <a:avLst>
              <a:gd name="adj" fmla="val 17192"/>
            </a:avLst>
          </a:prstGeom>
          <a:solidFill>
            <a:srgbClr val="13141C"/>
          </a:solidFill>
          <a:ln w="9525">
            <a:solidFill>
              <a:srgbClr val="393B4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395935" y="2404872"/>
            <a:ext cx="1542593" cy="319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F5F6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terminal</a:t>
            </a:r>
            <a:endParaRPr lang="en-US" sz="1125" dirty="0"/>
          </a:p>
        </p:txBody>
      </p:sp>
      <p:sp>
        <p:nvSpPr>
          <p:cNvPr id="7" name="터미널박스"/>
          <p:cNvSpPr/>
          <p:nvPr/>
        </p:nvSpPr>
        <p:spPr>
          <a:xfrm>
            <a:off x="395935" y="2827325"/>
            <a:ext cx="4526280" cy="2124151"/>
          </a:xfrm>
          <a:prstGeom prst="roundRect">
            <a:avLst>
              <a:gd name="adj" fmla="val 3444"/>
            </a:avLst>
          </a:prstGeom>
          <a:solidFill>
            <a:srgbClr val="13141C"/>
          </a:solidFill>
          <a:ln w="9525">
            <a:solidFill>
              <a:srgbClr val="393B4A"/>
            </a:solidFill>
            <a:prstDash val="solid"/>
          </a:ln>
        </p:spPr>
      </p:sp>
      <p:sp>
        <p:nvSpPr>
          <p:cNvPr id="8" name="터미널줄1"/>
          <p:cNvSpPr txBox="1"/>
          <p:nvPr/>
        </p:nvSpPr>
        <p:spPr>
          <a:xfrm>
            <a:off x="523951" y="2955341"/>
            <a:ext cx="4270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0FA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user@PC:~$ </a:t>
            </a:r>
            <a:pPr indent="0" marL="0">
              <a:buNone/>
            </a:pPr>
            <a:r>
              <a:rPr lang="en-US" sz="1100" dirty="0">
                <a:solidFill>
                  <a:srgbClr val="F5F6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-d --name web nginx:alpine</a:t>
            </a:r>
            <a:endParaRPr lang="en-US" sz="1100" dirty="0"/>
          </a:p>
        </p:txBody>
      </p:sp>
      <p:sp>
        <p:nvSpPr>
          <p:cNvPr id="9" name="강조"/>
          <p:cNvSpPr/>
          <p:nvPr/>
        </p:nvSpPr>
        <p:spPr>
          <a:xfrm>
            <a:off x="459943" y="2946197"/>
            <a:ext cx="4398264" cy="246888"/>
          </a:xfrm>
          <a:prstGeom prst="roundRect">
            <a:avLst>
              <a:gd name="adj" fmla="val 18519"/>
            </a:avLst>
          </a:prstGeom>
          <a:solidFill>
            <a:srgbClr val="13141C">
              <a:alpha val="0"/>
            </a:srgbClr>
          </a:solidFill>
          <a:ln w="22225">
            <a:solidFill>
              <a:srgbClr val="FF79C6"/>
            </a:solidFill>
            <a:prstDash val="solid"/>
          </a:ln>
        </p:spPr>
      </p:sp>
      <p:sp>
        <p:nvSpPr>
          <p:cNvPr id="10" name="터미널줄2"/>
          <p:cNvSpPr txBox="1"/>
          <p:nvPr/>
        </p:nvSpPr>
        <p:spPr>
          <a:xfrm>
            <a:off x="523951" y="3183941"/>
            <a:ext cx="4270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F6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6f360068836a220770786a07896c5926b9db9288…</a:t>
            </a:r>
            <a:endParaRPr lang="en-US" sz="1100" dirty="0"/>
          </a:p>
        </p:txBody>
      </p:sp>
      <p:sp>
        <p:nvSpPr>
          <p:cNvPr id="11" name="설명라벨"/>
          <p:cNvSpPr/>
          <p:nvPr/>
        </p:nvSpPr>
        <p:spPr>
          <a:xfrm>
            <a:off x="395935" y="5157216"/>
            <a:ext cx="4526280" cy="384048"/>
          </a:xfrm>
          <a:prstGeom prst="roundRect">
            <a:avLst>
              <a:gd name="adj" fmla="val 14286"/>
            </a:avLst>
          </a:prstGeom>
          <a:solidFill>
            <a:srgbClr val="3B2F55"/>
          </a:solidFill>
          <a:ln w="6350">
            <a:solidFill>
              <a:srgbClr val="3B2F5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95935" y="5157216"/>
            <a:ext cx="4526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F6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컨테이너 실행: docker run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1F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타이틀"/>
          <p:cNvSpPr txBox="1"/>
          <p:nvPr/>
        </p:nvSpPr>
        <p:spPr>
          <a:xfrm>
            <a:off x="209398" y="1158545"/>
            <a:ext cx="4663440" cy="831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5F6FA"/>
                </a:solidFill>
                <a:latin typeface="HY견고딕" pitchFamily="34" charset="0"/>
                <a:ea typeface="HY견고딕" pitchFamily="34" charset="-122"/>
                <a:cs typeface="HY견고딕" pitchFamily="34" charset="-120"/>
              </a:rPr>
              <a:t>2회차 · 이미지와 컨테이너</a:t>
            </a:r>
            <a:endParaRPr lang="en-US" sz="2400" dirty="0"/>
          </a:p>
        </p:txBody>
      </p:sp>
      <p:sp>
        <p:nvSpPr>
          <p:cNvPr id="3" name="자막영역"/>
          <p:cNvSpPr txBox="1"/>
          <p:nvPr/>
        </p:nvSpPr>
        <p:spPr>
          <a:xfrm>
            <a:off x="260604" y="6012180"/>
            <a:ext cx="4661611" cy="12527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5F6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docker ps로 실행 중인 컨테이너를 확인합니다. Up이면 실행 중입니다.</a:t>
            </a:r>
            <a:endParaRPr lang="en-US" sz="1500" dirty="0"/>
          </a:p>
        </p:txBody>
      </p:sp>
      <p:sp>
        <p:nvSpPr>
          <p:cNvPr id="5" name="터미널탭"/>
          <p:cNvSpPr/>
          <p:nvPr/>
        </p:nvSpPr>
        <p:spPr>
          <a:xfrm>
            <a:off x="395935" y="2404872"/>
            <a:ext cx="1542593" cy="319126"/>
          </a:xfrm>
          <a:prstGeom prst="roundRect">
            <a:avLst>
              <a:gd name="adj" fmla="val 17192"/>
            </a:avLst>
          </a:prstGeom>
          <a:solidFill>
            <a:srgbClr val="13141C"/>
          </a:solidFill>
          <a:ln w="9525">
            <a:solidFill>
              <a:srgbClr val="393B4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395935" y="2404872"/>
            <a:ext cx="1542593" cy="319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F5F6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terminal</a:t>
            </a:r>
            <a:endParaRPr lang="en-US" sz="1125" dirty="0"/>
          </a:p>
        </p:txBody>
      </p:sp>
      <p:sp>
        <p:nvSpPr>
          <p:cNvPr id="7" name="터미널박스"/>
          <p:cNvSpPr/>
          <p:nvPr/>
        </p:nvSpPr>
        <p:spPr>
          <a:xfrm>
            <a:off x="395935" y="2827325"/>
            <a:ext cx="4526280" cy="2124151"/>
          </a:xfrm>
          <a:prstGeom prst="roundRect">
            <a:avLst>
              <a:gd name="adj" fmla="val 3444"/>
            </a:avLst>
          </a:prstGeom>
          <a:solidFill>
            <a:srgbClr val="13141C"/>
          </a:solidFill>
          <a:ln w="9525">
            <a:solidFill>
              <a:srgbClr val="393B4A"/>
            </a:solidFill>
            <a:prstDash val="solid"/>
          </a:ln>
        </p:spPr>
      </p:sp>
      <p:sp>
        <p:nvSpPr>
          <p:cNvPr id="8" name="터미널줄1"/>
          <p:cNvSpPr txBox="1"/>
          <p:nvPr/>
        </p:nvSpPr>
        <p:spPr>
          <a:xfrm>
            <a:off x="523951" y="2955341"/>
            <a:ext cx="4270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0FA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user@PC:~$ </a:t>
            </a:r>
            <a:pPr indent="0" marL="0">
              <a:buNone/>
            </a:pPr>
            <a:r>
              <a:rPr lang="en-US" sz="1100" dirty="0">
                <a:solidFill>
                  <a:srgbClr val="F5F6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ps</a:t>
            </a:r>
            <a:endParaRPr lang="en-US" sz="1100" dirty="0"/>
          </a:p>
        </p:txBody>
      </p:sp>
      <p:sp>
        <p:nvSpPr>
          <p:cNvPr id="9" name="터미널줄2"/>
          <p:cNvSpPr txBox="1"/>
          <p:nvPr/>
        </p:nvSpPr>
        <p:spPr>
          <a:xfrm>
            <a:off x="523951" y="3183941"/>
            <a:ext cx="4270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CONTAINER ID   IMAGE          STATUS         NAMES</a:t>
            </a:r>
            <a:endParaRPr lang="en-US" sz="1100" dirty="0"/>
          </a:p>
        </p:txBody>
      </p:sp>
      <p:sp>
        <p:nvSpPr>
          <p:cNvPr id="10" name="터미널줄3"/>
          <p:cNvSpPr txBox="1"/>
          <p:nvPr/>
        </p:nvSpPr>
        <p:spPr>
          <a:xfrm>
            <a:off x="523951" y="3412541"/>
            <a:ext cx="4270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F6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6f360068836a   nginx:alpine   Up 3 seconds   web</a:t>
            </a:r>
            <a:endParaRPr lang="en-US" sz="1100" dirty="0"/>
          </a:p>
        </p:txBody>
      </p:sp>
      <p:sp>
        <p:nvSpPr>
          <p:cNvPr id="11" name="강조"/>
          <p:cNvSpPr/>
          <p:nvPr/>
        </p:nvSpPr>
        <p:spPr>
          <a:xfrm>
            <a:off x="459943" y="3403397"/>
            <a:ext cx="4398264" cy="246888"/>
          </a:xfrm>
          <a:prstGeom prst="roundRect">
            <a:avLst>
              <a:gd name="adj" fmla="val 18519"/>
            </a:avLst>
          </a:prstGeom>
          <a:solidFill>
            <a:srgbClr val="13141C">
              <a:alpha val="0"/>
            </a:srgbClr>
          </a:solidFill>
          <a:ln w="22225">
            <a:solidFill>
              <a:srgbClr val="50FA7B"/>
            </a:solidFill>
            <a:prstDash val="solid"/>
          </a:ln>
        </p:spPr>
      </p:sp>
      <p:sp>
        <p:nvSpPr>
          <p:cNvPr id="12" name="설명라벨"/>
          <p:cNvSpPr/>
          <p:nvPr/>
        </p:nvSpPr>
        <p:spPr>
          <a:xfrm>
            <a:off x="395935" y="5157216"/>
            <a:ext cx="4526280" cy="384048"/>
          </a:xfrm>
          <a:prstGeom prst="roundRect">
            <a:avLst>
              <a:gd name="adj" fmla="val 14286"/>
            </a:avLst>
          </a:prstGeom>
          <a:solidFill>
            <a:srgbClr val="24473A"/>
          </a:solidFill>
          <a:ln w="6350">
            <a:solidFill>
              <a:srgbClr val="24473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95935" y="5157216"/>
            <a:ext cx="4526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F6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 중인 컨테이너: docker ps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1F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타이틀"/>
          <p:cNvSpPr txBox="1"/>
          <p:nvPr/>
        </p:nvSpPr>
        <p:spPr>
          <a:xfrm>
            <a:off x="209398" y="1158545"/>
            <a:ext cx="4663440" cy="831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5F6FA"/>
                </a:solidFill>
                <a:latin typeface="HY견고딕" pitchFamily="34" charset="0"/>
                <a:ea typeface="HY견고딕" pitchFamily="34" charset="-122"/>
                <a:cs typeface="HY견고딕" pitchFamily="34" charset="-120"/>
              </a:rPr>
              <a:t>2회차 · 이미지와 컨테이너</a:t>
            </a:r>
            <a:endParaRPr lang="en-US" sz="2400" dirty="0"/>
          </a:p>
        </p:txBody>
      </p:sp>
      <p:sp>
        <p:nvSpPr>
          <p:cNvPr id="3" name="자막영역"/>
          <p:cNvSpPr txBox="1"/>
          <p:nvPr/>
        </p:nvSpPr>
        <p:spPr>
          <a:xfrm>
            <a:off x="260604" y="6012180"/>
            <a:ext cx="4661611" cy="12527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5F6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이미지로 컨테이너를 여러 개 실행할 수도 있습니다.</a:t>
            </a:r>
            <a:endParaRPr lang="en-US" sz="1500" dirty="0"/>
          </a:p>
        </p:txBody>
      </p:sp>
      <p:sp>
        <p:nvSpPr>
          <p:cNvPr id="5" name="터미널탭"/>
          <p:cNvSpPr/>
          <p:nvPr/>
        </p:nvSpPr>
        <p:spPr>
          <a:xfrm>
            <a:off x="395935" y="2404872"/>
            <a:ext cx="1542593" cy="319126"/>
          </a:xfrm>
          <a:prstGeom prst="roundRect">
            <a:avLst>
              <a:gd name="adj" fmla="val 17192"/>
            </a:avLst>
          </a:prstGeom>
          <a:solidFill>
            <a:srgbClr val="13141C"/>
          </a:solidFill>
          <a:ln w="9525">
            <a:solidFill>
              <a:srgbClr val="393B4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395935" y="2404872"/>
            <a:ext cx="1542593" cy="319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F5F6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terminal</a:t>
            </a:r>
            <a:endParaRPr lang="en-US" sz="1125" dirty="0"/>
          </a:p>
        </p:txBody>
      </p:sp>
      <p:sp>
        <p:nvSpPr>
          <p:cNvPr id="7" name="터미널박스"/>
          <p:cNvSpPr/>
          <p:nvPr/>
        </p:nvSpPr>
        <p:spPr>
          <a:xfrm>
            <a:off x="395935" y="2827325"/>
            <a:ext cx="4526280" cy="2124151"/>
          </a:xfrm>
          <a:prstGeom prst="roundRect">
            <a:avLst>
              <a:gd name="adj" fmla="val 3444"/>
            </a:avLst>
          </a:prstGeom>
          <a:solidFill>
            <a:srgbClr val="13141C"/>
          </a:solidFill>
          <a:ln w="9525">
            <a:solidFill>
              <a:srgbClr val="393B4A"/>
            </a:solidFill>
            <a:prstDash val="solid"/>
          </a:ln>
        </p:spPr>
      </p:sp>
      <p:sp>
        <p:nvSpPr>
          <p:cNvPr id="8" name="터미널줄1"/>
          <p:cNvSpPr txBox="1"/>
          <p:nvPr/>
        </p:nvSpPr>
        <p:spPr>
          <a:xfrm>
            <a:off x="523951" y="2955341"/>
            <a:ext cx="4270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0FA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user@PC:~$ </a:t>
            </a:r>
            <a:pPr indent="0" marL="0">
              <a:buNone/>
            </a:pPr>
            <a:r>
              <a:rPr lang="en-US" sz="1100" dirty="0">
                <a:solidFill>
                  <a:srgbClr val="F5F6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-d --name web2 nginx:alpine</a:t>
            </a:r>
            <a:endParaRPr lang="en-US" sz="1100" dirty="0"/>
          </a:p>
        </p:txBody>
      </p:sp>
      <p:sp>
        <p:nvSpPr>
          <p:cNvPr id="9" name="강조"/>
          <p:cNvSpPr/>
          <p:nvPr/>
        </p:nvSpPr>
        <p:spPr>
          <a:xfrm>
            <a:off x="459943" y="2946197"/>
            <a:ext cx="4398264" cy="246888"/>
          </a:xfrm>
          <a:prstGeom prst="roundRect">
            <a:avLst>
              <a:gd name="adj" fmla="val 18519"/>
            </a:avLst>
          </a:prstGeom>
          <a:solidFill>
            <a:srgbClr val="13141C">
              <a:alpha val="0"/>
            </a:srgbClr>
          </a:solidFill>
          <a:ln w="22225">
            <a:solidFill>
              <a:srgbClr val="50FA7B"/>
            </a:solidFill>
            <a:prstDash val="solid"/>
          </a:ln>
        </p:spPr>
      </p:sp>
      <p:sp>
        <p:nvSpPr>
          <p:cNvPr id="10" name="터미널줄2"/>
          <p:cNvSpPr txBox="1"/>
          <p:nvPr/>
        </p:nvSpPr>
        <p:spPr>
          <a:xfrm>
            <a:off x="523951" y="3183941"/>
            <a:ext cx="4270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F6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79e4073fcb973f64b85768bb15405ffc0b27c2b5…</a:t>
            </a:r>
            <a:endParaRPr lang="en-US" sz="1100" dirty="0"/>
          </a:p>
        </p:txBody>
      </p:sp>
      <p:sp>
        <p:nvSpPr>
          <p:cNvPr id="11" name="터미널줄3"/>
          <p:cNvSpPr txBox="1"/>
          <p:nvPr/>
        </p:nvSpPr>
        <p:spPr>
          <a:xfrm>
            <a:off x="523951" y="3412541"/>
            <a:ext cx="4270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0FA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user@PC:~$ </a:t>
            </a:r>
            <a:pPr indent="0" marL="0">
              <a:buNone/>
            </a:pPr>
            <a:r>
              <a:rPr lang="en-US" sz="1100" dirty="0">
                <a:solidFill>
                  <a:srgbClr val="F5F6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ps</a:t>
            </a:r>
            <a:endParaRPr lang="en-US" sz="1100" dirty="0"/>
          </a:p>
        </p:txBody>
      </p:sp>
      <p:sp>
        <p:nvSpPr>
          <p:cNvPr id="12" name="터미널줄4"/>
          <p:cNvSpPr txBox="1"/>
          <p:nvPr/>
        </p:nvSpPr>
        <p:spPr>
          <a:xfrm>
            <a:off x="523951" y="3641141"/>
            <a:ext cx="4270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CONTAINER ID   IMAGE          STATUS         NAMES</a:t>
            </a:r>
            <a:endParaRPr lang="en-US" sz="1100" dirty="0"/>
          </a:p>
        </p:txBody>
      </p:sp>
      <p:sp>
        <p:nvSpPr>
          <p:cNvPr id="13" name="터미널줄5"/>
          <p:cNvSpPr txBox="1"/>
          <p:nvPr/>
        </p:nvSpPr>
        <p:spPr>
          <a:xfrm>
            <a:off x="523951" y="3869741"/>
            <a:ext cx="4270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F6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79e4073fcb97   nginx:alpine   Up 2 seconds   web2</a:t>
            </a:r>
            <a:endParaRPr lang="en-US" sz="1100" dirty="0"/>
          </a:p>
        </p:txBody>
      </p:sp>
      <p:sp>
        <p:nvSpPr>
          <p:cNvPr id="14" name="강조"/>
          <p:cNvSpPr/>
          <p:nvPr/>
        </p:nvSpPr>
        <p:spPr>
          <a:xfrm>
            <a:off x="459943" y="3860597"/>
            <a:ext cx="4398264" cy="246888"/>
          </a:xfrm>
          <a:prstGeom prst="roundRect">
            <a:avLst>
              <a:gd name="adj" fmla="val 18519"/>
            </a:avLst>
          </a:prstGeom>
          <a:solidFill>
            <a:srgbClr val="13141C">
              <a:alpha val="0"/>
            </a:srgbClr>
          </a:solidFill>
          <a:ln w="22225">
            <a:solidFill>
              <a:srgbClr val="50FA7B"/>
            </a:solidFill>
            <a:prstDash val="solid"/>
          </a:ln>
        </p:spPr>
      </p:sp>
      <p:sp>
        <p:nvSpPr>
          <p:cNvPr id="15" name="터미널줄6"/>
          <p:cNvSpPr txBox="1"/>
          <p:nvPr/>
        </p:nvSpPr>
        <p:spPr>
          <a:xfrm>
            <a:off x="523951" y="4098341"/>
            <a:ext cx="42702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F6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6f360068836a   nginx:alpine   Up 5 seconds   web</a:t>
            </a:r>
            <a:endParaRPr lang="en-US" sz="1100" dirty="0"/>
          </a:p>
        </p:txBody>
      </p:sp>
      <p:sp>
        <p:nvSpPr>
          <p:cNvPr id="16" name="강조"/>
          <p:cNvSpPr/>
          <p:nvPr/>
        </p:nvSpPr>
        <p:spPr>
          <a:xfrm>
            <a:off x="459943" y="4089197"/>
            <a:ext cx="4398264" cy="246888"/>
          </a:xfrm>
          <a:prstGeom prst="roundRect">
            <a:avLst>
              <a:gd name="adj" fmla="val 18519"/>
            </a:avLst>
          </a:prstGeom>
          <a:solidFill>
            <a:srgbClr val="13141C">
              <a:alpha val="0"/>
            </a:srgbClr>
          </a:solidFill>
          <a:ln w="22225">
            <a:solidFill>
              <a:srgbClr val="50FA7B"/>
            </a:solidFill>
            <a:prstDash val="solid"/>
          </a:ln>
        </p:spPr>
      </p:sp>
      <p:sp>
        <p:nvSpPr>
          <p:cNvPr id="17" name="설명라벨"/>
          <p:cNvSpPr/>
          <p:nvPr/>
        </p:nvSpPr>
        <p:spPr>
          <a:xfrm>
            <a:off x="395935" y="5157216"/>
            <a:ext cx="4526280" cy="384048"/>
          </a:xfrm>
          <a:prstGeom prst="roundRect">
            <a:avLst>
              <a:gd name="adj" fmla="val 14286"/>
            </a:avLst>
          </a:prstGeom>
          <a:solidFill>
            <a:srgbClr val="24473A"/>
          </a:solidFill>
          <a:ln w="6350">
            <a:solidFill>
              <a:srgbClr val="24473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95935" y="5157216"/>
            <a:ext cx="4526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F6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 하나, 컨테이너 둘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1F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타이틀"/>
          <p:cNvSpPr txBox="1"/>
          <p:nvPr/>
        </p:nvSpPr>
        <p:spPr>
          <a:xfrm>
            <a:off x="209398" y="1158545"/>
            <a:ext cx="4663440" cy="831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5F6FA"/>
                </a:solidFill>
                <a:latin typeface="HY견고딕" pitchFamily="34" charset="0"/>
                <a:ea typeface="HY견고딕" pitchFamily="34" charset="-122"/>
                <a:cs typeface="HY견고딕" pitchFamily="34" charset="-120"/>
              </a:rPr>
              <a:t>2회차 · 이미지와 컨테이너</a:t>
            </a:r>
            <a:endParaRPr lang="en-US" sz="2400" dirty="0"/>
          </a:p>
        </p:txBody>
      </p:sp>
      <p:sp>
        <p:nvSpPr>
          <p:cNvPr id="3" name="자막영역"/>
          <p:cNvSpPr txBox="1"/>
          <p:nvPr/>
        </p:nvSpPr>
        <p:spPr>
          <a:xfrm>
            <a:off x="260604" y="6012180"/>
            <a:ext cx="4661611" cy="12527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5F6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pull로 받고, images로 확인하고, run으로 실행하고, ps로 확인합니다.</a:t>
            </a:r>
            <a:endParaRPr lang="en-US" sz="1500" dirty="0"/>
          </a:p>
        </p:txBody>
      </p:sp>
      <p:sp>
        <p:nvSpPr>
          <p:cNvPr id="5" name="요약행1"/>
          <p:cNvSpPr/>
          <p:nvPr/>
        </p:nvSpPr>
        <p:spPr>
          <a:xfrm>
            <a:off x="411480" y="2377440"/>
            <a:ext cx="4297680" cy="731520"/>
          </a:xfrm>
          <a:prstGeom prst="roundRect">
            <a:avLst>
              <a:gd name="adj" fmla="val 12500"/>
            </a:avLst>
          </a:prstGeom>
          <a:solidFill>
            <a:srgbClr val="13141C"/>
          </a:solidFill>
          <a:ln w="9525">
            <a:solidFill>
              <a:srgbClr val="393B4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23774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79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pull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2423160" y="23774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6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 내려받기</a:t>
            </a:r>
            <a:endParaRPr lang="en-US" sz="1400" dirty="0"/>
          </a:p>
        </p:txBody>
      </p:sp>
      <p:sp>
        <p:nvSpPr>
          <p:cNvPr id="8" name="요약행2"/>
          <p:cNvSpPr/>
          <p:nvPr/>
        </p:nvSpPr>
        <p:spPr>
          <a:xfrm>
            <a:off x="411480" y="3246120"/>
            <a:ext cx="4297680" cy="731520"/>
          </a:xfrm>
          <a:prstGeom prst="roundRect">
            <a:avLst>
              <a:gd name="adj" fmla="val 12500"/>
            </a:avLst>
          </a:prstGeom>
          <a:solidFill>
            <a:srgbClr val="13141C"/>
          </a:solidFill>
          <a:ln w="9525">
            <a:solidFill>
              <a:srgbClr val="393B4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324612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79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images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2423160" y="32461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6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 목록 보기</a:t>
            </a:r>
            <a:endParaRPr lang="en-US" sz="1400" dirty="0"/>
          </a:p>
        </p:txBody>
      </p:sp>
      <p:sp>
        <p:nvSpPr>
          <p:cNvPr id="11" name="요약행3"/>
          <p:cNvSpPr/>
          <p:nvPr/>
        </p:nvSpPr>
        <p:spPr>
          <a:xfrm>
            <a:off x="411480" y="4114800"/>
            <a:ext cx="4297680" cy="731520"/>
          </a:xfrm>
          <a:prstGeom prst="roundRect">
            <a:avLst>
              <a:gd name="adj" fmla="val 12500"/>
            </a:avLst>
          </a:prstGeom>
          <a:solidFill>
            <a:srgbClr val="13141C"/>
          </a:solidFill>
          <a:ln w="9525">
            <a:solidFill>
              <a:srgbClr val="393B4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41148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79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2423160" y="41148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6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컨테이너 실행</a:t>
            </a:r>
            <a:endParaRPr lang="en-US" sz="1400" dirty="0"/>
          </a:p>
        </p:txBody>
      </p:sp>
      <p:sp>
        <p:nvSpPr>
          <p:cNvPr id="14" name="요약행4"/>
          <p:cNvSpPr/>
          <p:nvPr/>
        </p:nvSpPr>
        <p:spPr>
          <a:xfrm>
            <a:off x="411480" y="4983480"/>
            <a:ext cx="4297680" cy="731520"/>
          </a:xfrm>
          <a:prstGeom prst="roundRect">
            <a:avLst>
              <a:gd name="adj" fmla="val 12500"/>
            </a:avLst>
          </a:prstGeom>
          <a:solidFill>
            <a:srgbClr val="13141C"/>
          </a:solidFill>
          <a:ln w="9525">
            <a:solidFill>
              <a:srgbClr val="393B4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498348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79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ps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2423160" y="49834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6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 중인 컨테이너 보기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1F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타이틀"/>
          <p:cNvSpPr txBox="1"/>
          <p:nvPr/>
        </p:nvSpPr>
        <p:spPr>
          <a:xfrm>
            <a:off x="209398" y="1158545"/>
            <a:ext cx="4663440" cy="831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5F6FA"/>
                </a:solidFill>
                <a:latin typeface="HY견고딕" pitchFamily="34" charset="0"/>
                <a:ea typeface="HY견고딕" pitchFamily="34" charset="-122"/>
                <a:cs typeface="HY견고딕" pitchFamily="34" charset="-120"/>
              </a:rPr>
              <a:t>2회차 · 이미지와 컨테이너</a:t>
            </a:r>
            <a:endParaRPr lang="en-US" sz="2400" dirty="0"/>
          </a:p>
        </p:txBody>
      </p:sp>
      <p:sp>
        <p:nvSpPr>
          <p:cNvPr id="3" name="자막영역"/>
          <p:cNvSpPr txBox="1"/>
          <p:nvPr/>
        </p:nvSpPr>
        <p:spPr>
          <a:xfrm>
            <a:off x="260604" y="6012180"/>
            <a:ext cx="4661611" cy="12527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5F6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시간에는 컨테이너를 켜고 끄는 방법을 알아봅니다.</a:t>
            </a:r>
            <a:endParaRPr lang="en-US" sz="1500" dirty="0"/>
          </a:p>
        </p:txBody>
      </p:sp>
      <p:sp>
        <p:nvSpPr>
          <p:cNvPr id="5" name="화면영역"/>
          <p:cNvSpPr/>
          <p:nvPr/>
        </p:nvSpPr>
        <p:spPr>
          <a:xfrm>
            <a:off x="260604" y="2202790"/>
            <a:ext cx="4661611" cy="3556102"/>
          </a:xfrm>
          <a:prstGeom prst="roundRect">
            <a:avLst>
              <a:gd name="adj" fmla="val 5143"/>
            </a:avLst>
          </a:prstGeom>
          <a:solidFill>
            <a:srgbClr val="3B2F55"/>
          </a:solidFill>
          <a:ln w="19050">
            <a:solidFill>
              <a:srgbClr val="FF79C6"/>
            </a:solidFill>
            <a:prstDash val="solid"/>
          </a:ln>
        </p:spPr>
      </p:sp>
      <p:sp>
        <p:nvSpPr>
          <p:cNvPr id="6" name="다음회차"/>
          <p:cNvSpPr txBox="1"/>
          <p:nvPr/>
        </p:nvSpPr>
        <p:spPr>
          <a:xfrm>
            <a:off x="260604" y="2202790"/>
            <a:ext cx="4661611" cy="35561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79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endParaRPr lang="en-US" sz="16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F5F6FA"/>
                </a:solidFill>
                <a:latin typeface="HY견고딕" pitchFamily="34" charset="0"/>
                <a:ea typeface="HY견고딕" pitchFamily="34" charset="-122"/>
                <a:cs typeface="HY견고딕" pitchFamily="34" charset="-120"/>
              </a:rPr>
              <a:t>3회차</a:t>
            </a:r>
            <a:endParaRPr lang="en-US" sz="1600" dirty="0"/>
          </a:p>
          <a:p>
            <a:pPr algn="ctr" indent="0" marL="0">
              <a:buNone/>
            </a:pPr>
            <a:r>
              <a:rPr lang="en-US" sz="3000" dirty="0">
                <a:solidFill>
                  <a:srgbClr val="F5F6FA"/>
                </a:solidFill>
                <a:latin typeface="HY견고딕" pitchFamily="34" charset="0"/>
                <a:ea typeface="HY견고딕" pitchFamily="34" charset="-122"/>
                <a:cs typeface="HY견고딕" pitchFamily="34" charset="-120"/>
              </a:rPr>
              <a:t>컨테이너 켜고 끄기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Docker 2회차 이미지와 컨테이너</dc:title>
  <dc:subject>PptxGenJS Presentation</dc:subject>
  <dc:creator>PptxGenJS</dc:creator>
  <cp:lastModifiedBy>PptxGenJS</cp:lastModifiedBy>
  <cp:revision>1</cp:revision>
  <dcterms:created xsi:type="dcterms:W3CDTF">2026-10-08T05:55:00Z</dcterms:created>
  <dcterms:modified xsi:type="dcterms:W3CDTF">2026-10-08T05:55:00Z</dcterms:modified>
</cp:coreProperties>
</file>